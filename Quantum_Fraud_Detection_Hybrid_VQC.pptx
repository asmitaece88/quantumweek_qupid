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800" b="1">
                <a:solidFill>
                  <a:srgbClr val="F8FAFC"/>
                </a:solidFill>
                <a:latin typeface="Georgia"/>
              </a:defRPr>
            </a:pPr>
            <a:r>
              <a:t>Quantum Fraud Detection with Hybrid Variational Circuits</a:t>
            </a:r>
          </a:p>
          <a:p>
            <a:pPr>
              <a:spcAft>
                <a:spcPts val="1200"/>
              </a:spcAft>
              <a:defRPr sz="1500">
                <a:solidFill>
                  <a:srgbClr val="06B6D4"/>
                </a:solidFill>
                <a:latin typeface="Verdana"/>
              </a:defRPr>
            </a:pPr>
            <a:r>
              <a:t>A Proof-of-Concept Hybrid Quantum-Classical Architecture for Rare Payment Fraud Ranking</a:t>
            </a:r>
          </a:p>
          <a:p>
            <a:pPr>
              <a:defRPr sz="1300" b="1">
                <a:solidFill>
                  <a:srgbClr val="F59E0B"/>
                </a:solidFill>
                <a:latin typeface="Verdana"/>
              </a:defRPr>
            </a:pPr>
            <a:r>
              <a:t>Team Name: Qubit Sentinel  |  Track: Quantum Machine Learning / Financial Security  |  Q-Hack India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521208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700" b="1">
                <a:solidFill>
                  <a:srgbClr val="F59E0B"/>
                </a:solidFill>
                <a:latin typeface="Georgia"/>
              </a:defRPr>
            </a:pPr>
            <a:r>
              <a:t>PROBLEM STATEMENT: Extreme Class Imbalance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Rare-Event Challenge: Payment fraud represents only 2% of transaction telemetry (40 fraud cases in 2,000 transactions).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The Accuracy Paradox: A naive model predicting 'legitimate' for all transactions reaches ~98% accuracy while missing 100% of fraud.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Operational Constraint: Human investigators can only review a limited queue of high-risk flags each day.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Primary Metric: Evaluation relies on PR-AUC, Recall, and False Positive Alert Counts—never accuracy alone.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2743200"/>
            <a:ext cx="521208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Georgia"/>
              </a:defRPr>
            </a:pPr>
            <a:r>
              <a:t>DECISION OBJECTIVE &amp; STRATEGY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Fraud Ranking Queue: Prioritize transactions with highest probability of fraud into a tight, actionable review queue.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Dual Feature Encoding: Map device trust score and merchant trust score into a compact 2-qubit Hilbert feature space.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Hybrid Optimization Loop: Train variational rotation angles using classical COBYLA optimizer to maximize fraud separation.</a:t>
            </a:r>
          </a:p>
          <a:p>
            <a:pPr>
              <a:spcAft>
                <a:spcPts val="8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Fair Comparison Contract: Benchmark VQC against a feature-matched XGBoost baseline on identical untouched test splits.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Verdana"/>
              </a:defRPr>
            </a:pPr>
            <a:r>
              <a:t>Q-HACK INDIA 2026 • QUANTUM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Georgia"/>
              </a:defRPr>
            </a:pPr>
            <a:r>
              <a:t>Why It Matters: Balancing Financial Loss against Investigator Capacity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50" b="1">
                <a:solidFill>
                  <a:srgbClr val="F59E0B"/>
                </a:solidFill>
                <a:latin typeface="Georgia"/>
              </a:defRPr>
            </a:pPr>
            <a:r>
              <a:t>1. Missed Fraud is Costly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Direct Monetary Loss: Uncaught fraudulent transactions lead to chargebacks, direct financial loss, and merchant penalties.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Customer Friction: Fraudulent breaches erode user trust and damage brand equity across payment networks.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Recall Requirement: The primary system directive is high fraud recall—catching as many genuine fraud cases as 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50" b="1">
                <a:solidFill>
                  <a:srgbClr val="06B6D4"/>
                </a:solidFill>
                <a:latin typeface="Georgia"/>
              </a:defRPr>
            </a:pPr>
            <a:r>
              <a:t>2. Alerts Consume Capacity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Human Review Limits: Every flagged fraud alert requires manual investigation by risk operations analysts.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Alert Fatigue: Models raising thousands of weak alarms create investigator fatigue and slow legitimate payouts.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Precision Requirement: Make every alert worth reviewing by maximizing alert quality and minimizing false positives.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50" b="1">
                <a:solidFill>
                  <a:srgbClr val="10B981"/>
                </a:solidFill>
                <a:latin typeface="Georgia"/>
              </a:defRPr>
            </a:pPr>
            <a:r>
              <a:t>3. Accuracy Hides Reality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The 98% Illusion: Only 40 of 2,000 transactions are fraudulent (2.0% base rate).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Zero Catch Rate: A zero-intelligence classifier achieves 98% accuracy by predicting 100% legitimate transactions.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  <a:latin typeface="Verdana"/>
              </a:defRPr>
            </a:pPr>
            <a:r>
              <a:t>• Correct Metrics: Benchmark using PR-AUC, Recall, Precision, and False Positive Alert 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Verdana"/>
              </a:defRPr>
            </a:pPr>
            <a:r>
              <a:t>Q-HACK INDIA 2026 • QUANTUM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Georgia"/>
              </a:defRPr>
            </a:pPr>
            <a:r>
              <a:t>Proposed Solution: Hybrid Quantum-Classical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  <a:latin typeface="Georgia"/>
              </a:defRPr>
            </a:pPr>
            <a:r>
              <a:t>Step 1: Data Preparation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Verdana"/>
              </a:defRPr>
            </a:pPr>
            <a:r>
              <a:t>Input Normalization &amp; Resampling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Scale selected features (device_trust_score, merchant_trust_score) to interval [-π, π].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Oversample fraud cases ONLY in the VQC fitting subset (240 samples, 47.5% fraud rate) to stabilize quantum gradients.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Reserve untouched test set (600 transactions, 12 fraud cases, 2.0% rate) for final evaluation.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96512" y="3200400"/>
            <a:ext cx="274320" cy="36576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43984" y="1554480"/>
            <a:ext cx="329184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Georgia"/>
              </a:defRPr>
            </a:pPr>
            <a:r>
              <a:t>Step 2: Hybrid VQC Training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Verdana"/>
              </a:defRPr>
            </a:pPr>
            <a:r>
              <a:t>Variational Circuit Optimization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Angle-encode features onto a 2-qubit quantum register via single-qubit rotations.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Apply trainable entangling layers (RY/RZ rotations + CNOT gates).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Classical COBYLA optimizer updates parameter weights θ based on Pauli-Z expectation values.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08976" y="3200400"/>
            <a:ext cx="274320" cy="36576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56448" y="1554480"/>
            <a:ext cx="329184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Georgia"/>
              </a:defRPr>
            </a:pPr>
            <a:r>
              <a:t>Step 3: Alert Ranking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Verdana"/>
              </a:defRPr>
            </a:pPr>
            <a:r>
              <a:t>Fraud Queue Prioritization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Convert circuit Pauli-Z expectation &lt;Z₀&gt; to calibrated fraud probability P(Fraud).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Rank transactions by predicted fraud probability into an investigator review queue.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Compare performance against feature-matched XGBoost baseline on identical test split.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Verdana"/>
              </a:defRPr>
            </a:pPr>
            <a:r>
              <a:t>FAIR COMPARISON CONTRACT: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Both quantum (PennyLane VQC) and classical (XGBoost) models receive the exact same two input features, identical training/testing data splits, and are evaluated on PR-AUC, Recall, Precision, and False Positive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Verdana"/>
              </a:defRPr>
            </a:pPr>
            <a:r>
              <a:t>Q-HACK INDIA 2026 • QUANTUM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Georgia"/>
              </a:defRPr>
            </a:pPr>
            <a:r>
              <a:t>Why Quantum? Hilbert Space Expressivity for Extreme Class Imbalance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50" b="1">
                <a:solidFill>
                  <a:srgbClr val="06B6D4"/>
                </a:solidFill>
                <a:latin typeface="Georgia"/>
              </a:defRPr>
            </a:pPr>
            <a:r>
              <a:t>1. Quantum Feature Space &amp; Entanglement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Compact Hilbert Representation: Angle-encoding telemetry features onto qubit states embeds inputs into a 2^N dimensional Hilbert space.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Non-Linear Feature Correlations: Entangling layers (CNOTs) explore non-linear interactions between device and merchant trust scores without classical feature explosion.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Scaling to Extreme Imbalance on Massive Datasets: For massive financial telemetry streams with zillions of records where fraud is rare, quantum state spaces provide awesome representation capacity for subtle anomaly separation.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Hybrid Learning Loop: Classical optimizer (COBYLA) iteratively tunes circuit parameters θ to maximize decision margin around rare fraud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50" b="1">
                <a:solidFill>
                  <a:srgbClr val="F59E0B"/>
                </a:solidFill>
                <a:latin typeface="Georgia"/>
              </a:defRPr>
            </a:pPr>
            <a:r>
              <a:t>2. Error Mitigation &amp; Hardware Projection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PoC Simulator Baseline: Current 2-qubit simulation validates the end-to-end hybrid pipeline—not a claim of immediate quantum supremacy on toy datasets.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The Power of Error Mitigation: Coupled with proper hardware error mitigation (Readout Mitigation M3 &amp; Zero-Noise Extrapolation ZNE), real physical QPUs eliminate physical decoherence noise.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Overshooting Classical XGBoost: On real IBM Quantum hardware with mitigated noise, the high-dimensional Hilbert space kernel is projected to overshoot classical gradient boosted trees on complex fraud boundaries.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Quantum Hypothesis: A well-tuned, error-mitigated VQC unlocks superior expressivity for rare-event ranking that scales as data volume grows.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Verdana"/>
              </a:defRPr>
            </a:pPr>
            <a:r>
              <a:t>Q-HACK INDIA 2026 • QUANTUM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Georgia"/>
              </a:defRPr>
            </a:pPr>
            <a:r>
              <a:t>Implementation &amp; Architecture: Dual-Phase Execution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Georgia"/>
              </a:defRPr>
            </a:pPr>
            <a:r>
              <a:t>PHASE 1 (CURRENT) — LOCAL SIMULATOR PoC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1460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Verdana"/>
              </a:defRPr>
            </a:pPr>
            <a:r>
              <a:t>Raw Data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CSV + 2 Trust</a:t>
            </a:r>
            <a:br/>
            <a:r>
              <a:t>Features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292608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63240" y="251460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Verdana"/>
              </a:defRPr>
            </a:pPr>
            <a:r>
              <a:t>Pre-Process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Scale [-π, π] +</a:t>
            </a:r>
            <a:br/>
            <a:r>
              <a:t>Balanced Fit Set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6320" y="292608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251460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Verdana"/>
              </a:defRPr>
            </a:pPr>
            <a:r>
              <a:t>VQC Simulator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PennyLane / Qiskit</a:t>
            </a:r>
            <a:br/>
            <a:r>
              <a:t>Statevector Engine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03720" y="292608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78040" y="251460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Verdana"/>
              </a:defRPr>
            </a:pPr>
            <a:r>
              <a:t>Hybrid Loop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COBYLA Optimizer</a:t>
            </a:r>
            <a:br/>
            <a:r>
              <a:t>Parameter Update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292608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1460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Verdana"/>
              </a:defRPr>
            </a:pPr>
            <a:r>
              <a:t>Evaluation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PR-AUC: 0.3979</a:t>
            </a:r>
            <a:br/>
            <a:r>
              <a:t>100% Fraud 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7286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Georgia"/>
              </a:defRPr>
            </a:pPr>
            <a:r>
              <a:t>PHASE 2 (NEXT STEP) — IBM QUANTUM CLOUD HARDWARE PROTOTYPE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07492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Verdana"/>
              </a:defRPr>
            </a:pPr>
            <a:r>
              <a:t>Transpile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Backend-Aware</a:t>
            </a:r>
            <a:br/>
            <a:r>
              <a:t>Circuit Mapping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788920" y="548640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63240" y="507492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Verdana"/>
              </a:defRPr>
            </a:pPr>
            <a:r>
              <a:t>QPU Execution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IBM Quantum Cloud</a:t>
            </a:r>
            <a:br/>
            <a:r>
              <a:t>Physical Hardware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20" y="548640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0640" y="507492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Verdana"/>
              </a:defRPr>
            </a:pPr>
            <a:r>
              <a:t>Error Mitigation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Readout M3 +</a:t>
            </a:r>
            <a:br/>
            <a:r>
              <a:t>ZNE Noise Extrap.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903720" y="548640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78040" y="507492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Verdana"/>
              </a:defRPr>
            </a:pPr>
            <a:r>
              <a:t>Benchmarking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Evaluate Metrics vs</a:t>
            </a:r>
            <a:br/>
            <a:r>
              <a:t>Classical XGBoost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61120" y="5486400"/>
            <a:ext cx="228600" cy="27432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5440" y="5074920"/>
            <a:ext cx="173736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Verdana"/>
              </a:defRPr>
            </a:pPr>
            <a:r>
              <a:t>Target Advantage</a:t>
            </a:r>
          </a:p>
          <a:p>
            <a:pPr algn="ctr">
              <a:defRPr sz="900">
                <a:solidFill>
                  <a:srgbClr val="F8FAFC"/>
                </a:solidFill>
                <a:latin typeface="Verdana"/>
              </a:defRPr>
            </a:pPr>
            <a:r>
              <a:t>Projected to</a:t>
            </a:r>
            <a:br/>
            <a:r>
              <a:t>Overshoot XGBoost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Verdana"/>
              </a:defRPr>
            </a:pPr>
            <a:r>
              <a:t>Q-HACK INDIA 2026 • QUANTUM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Georgia"/>
              </a:defRPr>
            </a:pPr>
            <a:r>
              <a:t>Minimal Prototype: Built Artifacts &amp; Circuit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50" b="1">
                <a:solidFill>
                  <a:srgbClr val="06B6D4"/>
                </a:solidFill>
                <a:latin typeface="Georgia"/>
              </a:defRPr>
            </a:pPr>
            <a:r>
              <a:t>1. Built Prototype Deliverables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Reproducible Jupyter Notebook: Executable quantum_vqc_fraud_detection.ipynb.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2-Qubit Qiskit VQC: Feature map + parameterized circuit implementation in Qiskit.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Qiskit ML Wrapper VQC: Modular neural network classifier wrapper.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PennyLane VQC Engine: High-performance statevector simulator workflow.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Classical XGBoost Baseline: Feature-matched gradient boosted decision trees.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Dataset Correction: Mislabeled merchant_risk_score clarified as merchant_trust_score without altering raw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50" b="1">
                <a:solidFill>
                  <a:srgbClr val="F59E0B"/>
                </a:solidFill>
                <a:latin typeface="Georgia"/>
              </a:defRPr>
            </a:pPr>
            <a:r>
              <a:t>2. Circuit &amp; Evaluation Pipeline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Feature Map / Embedding: Scale device &amp; merchant trust features to [-π, π] and encode via RY rotations.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Trainable Variational Layers: Layered RY/RZ single-qubit rotations with CNOT entangling gates.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Pauli-Z Expectation: Measure &lt;Z₀&gt; on primary qubit to compute calibrated fraud probability P(Fraud).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Untouched Test Evaluation: Held-out test set of 600 transactions with 12 fraud cases (2.0% fraud rate).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Decision Metrics: PR-AUC, confusion matrix, fraud recall, precision, and false-positive alert 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Verdana"/>
              </a:defRPr>
            </a:pPr>
            <a:r>
              <a:t>Q-HACK INDIA 2026 • QUANTUM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Georgia"/>
              </a:defRPr>
            </a:pPr>
            <a:r>
              <a:t>Results &amp; Validation: Simulator PoC Metrics vs. Hardware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3383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50" b="1">
                <a:solidFill>
                  <a:srgbClr val="06B6D4"/>
                </a:solidFill>
                <a:latin typeface="Georgia"/>
              </a:defRPr>
            </a:pPr>
            <a:r>
              <a:t>PennyLane VQC (Simulation PoC)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PR-AUC: 0.3979  (Strong ranking power)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Recall: 100.0%  (12 / 12 fraud cases caught)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Precision: 5.9%  (Low precision in raw simulation)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False Positives: 193 alerts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Status: Strongest quantum configuration in simulation PoC.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212080" cy="3383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50" b="1">
                <a:solidFill>
                  <a:srgbClr val="10B981"/>
                </a:solidFill>
                <a:latin typeface="Georgia"/>
              </a:defRPr>
            </a:pPr>
            <a:r>
              <a:t>XGBoost (Classical Baseline)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PR-AUC: 0.4103  (Best measured ranking)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Recall: 91.7%  (11 / 12 fraud cases caught)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Precision: 28.9%  (Higher precision baseline)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False Positives: 27 alerts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Status: Strong classical benchmark on 2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28655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  <a:latin typeface="Georgia"/>
              </a:defRPr>
            </a:pPr>
            <a:r>
              <a:t>WHAT PHASE 2 WILL VALIDATE ON REAL IBM QUANTUM HARDWARE</a:t>
            </a:r>
          </a:p>
          <a:p>
            <a:pPr>
              <a:defRPr sz="1050">
                <a:solidFill>
                  <a:srgbClr val="F8FAFC"/>
                </a:solidFill>
                <a:latin typeface="Verdana"/>
              </a:defRPr>
            </a:pPr>
            <a:r>
              <a:t>• Near-Classical Parity: The PennyLane VQC closely tracks XGBoost in PR-AUC (0.3979 vs 0.4103) with 100% fraud recall.</a:t>
            </a:r>
          </a:p>
          <a:p>
            <a:pPr>
              <a:defRPr sz="1050">
                <a:solidFill>
                  <a:srgbClr val="F8FAFC"/>
                </a:solidFill>
                <a:latin typeface="Verdana"/>
              </a:defRPr>
            </a:pPr>
            <a:r>
              <a:t>• Hardware Error Mitigation Impact: Deploying on real IBM Quantum Cloud QPUs with M3 readout mitigation and ZNE noise extrapolation is projected to overshoot classical XGBoost by leveraging high-dimensional Hilbert space expressivity.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Verdana"/>
              </a:defRPr>
            </a:pPr>
            <a:r>
              <a:t>Q-HACK INDIA 2026 • QUANTUM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Georgia"/>
              </a:defRPr>
            </a:pPr>
            <a:r>
              <a:t>Roadmap: Strategic Path from PoC to Production Quantum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50" b="1">
                <a:solidFill>
                  <a:srgbClr val="06B6D4"/>
                </a:solidFill>
                <a:latin typeface="Georgia"/>
              </a:defRPr>
            </a:pPr>
            <a:r>
              <a:t>1. Validate Fairly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Repeated Stratified Splits: Evaluate mean ± SD PR-AUC across multiple random seeds.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Threshold Tuning: Tune decision thresholds on validation subset to balance precision vs recall.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Untouched Test Holdout: Keep final test set completely untouched until final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50" b="1">
                <a:solidFill>
                  <a:srgbClr val="F59E0B"/>
                </a:solidFill>
                <a:latin typeface="Georgia"/>
              </a:defRPr>
            </a:pPr>
            <a:r>
              <a:t>2. Improve VQC Circuit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Data Re-Uploading: Interleave feature encoding layers with trainable rotations for higher expressivity.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Expressive Ansätze: Explore strongly entangling circuits and hardware-efficient topologies.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Optimizers &amp; Depth: Benchmark Adam, SPSA, and COBYLA with variable layer depth 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50" b="1">
                <a:solidFill>
                  <a:srgbClr val="10B981"/>
                </a:solidFill>
                <a:latin typeface="Georgia"/>
              </a:defRPr>
            </a:pPr>
            <a:r>
              <a:t>3. Scale Responsibly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Add Features &amp; Qubits: Expand input dimension beyond 2 features as physical qubit counts grow.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Noise-Aware Simulation: Incorporate realistic QPU noise models into local training loops.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Hardware Cloud Trials: Execute on IBM Quantum Cloud, comparing cost, latency, and ranking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  <a:latin typeface="Verdana"/>
              </a:defRPr>
            </a:pPr>
            <a:r>
              <a:t>Q-HACK INDIA 2026 • QUANTUM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Georgia"/>
              </a:defRPr>
            </a:pPr>
            <a:r>
              <a:t>References &amp; Project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50" b="1">
                <a:solidFill>
                  <a:srgbClr val="06B6D4"/>
                </a:solidFill>
                <a:latin typeface="Georgia"/>
              </a:defRPr>
            </a:pPr>
            <a:r>
              <a:t>Implementation Sources &amp; Stack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Project Notebook: quantum_vqc_fraud_detection.ipynb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Telemetry Dataset: fraud_detection_dataset.csv (2,000 transactions)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Qiskit Framework: qiskit.org &amp; Qiskit Machine Learning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PennyLane QML: docs.pennylane.ai (PennyLane default.qubit)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Environment Spec: requirements.txt (Python 3.12 stack)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50" b="1">
                <a:solidFill>
                  <a:srgbClr val="F59E0B"/>
                </a:solidFill>
                <a:latin typeface="Georgia"/>
              </a:defRPr>
            </a:pPr>
            <a:r>
              <a:t>Classical Benchmarks &amp; Acknowledgements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XGBoost Baseline: xgboost.readthedocs.io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Scikit-Learn Evaluation: scikit-learn.org (PR-AUC, confusion matrix)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Evaluation Contract: Average precision / PR-AUC, fraud recall, precision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Verdana"/>
              </a:defRPr>
            </a:pPr>
            <a:r>
              <a:t>• Acknowledgement: Based on Team Qubit Sentinel's prototype implementation for Q-Hack India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