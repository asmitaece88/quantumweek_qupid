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2CBFC5-E3A0-4FEB-A8B9-9952E13696C0}" type="datetimeFigureOut"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7B6E8-6006-4C75-9788-A81C8E03408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4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Q-Hack India 2026 reference deck; user-provided Quantum_Fraud_Detection_Hybrid_VQC.pptx; project notebook quantum_vqc_fraud_detection.ipynb; supplied dataset fraud_detection_dataset.csv. Slide: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Q-Hack India 2026 reference deck; user-provided Quantum_Fraud_Detection_Hybrid_VQC.pptx; project notebook quantum_vqc_fraud_detection.ipynb; supplied dataset fraud_detection_dataset.csv. Slide: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Q-Hack India 2026 reference deck; user-provided Quantum_Fraud_Detection_Hybrid_VQC.pptx; project notebook quantum_vqc_fraud_detection.ipynb; supplied dataset fraud_detection_dataset.csv. Slide: Why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Q-Hack India 2026 reference deck; user-provided Quantum_Fraud_Detection_Hybrid_VQC.pptx; project notebook quantum_vqc_fraud_detection.ipynb; supplied dataset fraud_detection_dataset.csv. Slide: Proposed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Q-Hack India 2026 reference deck; user-provided Quantum_Fraud_Detection_Hybrid_VQC.pptx; project notebook quantum_vqc_fraud_detection.ipynb; supplied dataset fraud_detection_dataset.csv. Slide: Why Quantum.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Q-Hack India 2026 reference deck; user-provided Quantum_Fraud_Detection_Hybrid_VQC.pptx; project notebook quantum_vqc_fraud_detection.ipynb; supplied dataset fraud_detection_dataset.csv. Slide: Implementation &amp;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Q-Hack India 2026 reference deck; user-provided Quantum_Fraud_Detection_Hybrid_VQC.pptx; project notebook quantum_vqc_fraud_detection.ipynb; supplied dataset fraud_detection_dataset.csv. Slide: Minimal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Q-Hack India 2026 reference deck; user-provided Quantum_Fraud_Detection_Hybrid_VQC.pptx; project notebook quantum_vqc_fraud_detection.ipynb; supplied dataset fraud_detection_dataset.csv. Slide: Results &amp;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Q-Hack India 2026 reference deck; user-provided Quantum_Fraud_Detection_Hybrid_VQC.pptx; project notebook quantum_vqc_fraud_detection.ipynb; supplied dataset fraud_detection_dataset.csv. Slide: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User-provided Q-Hack India 2026 reference deck; user-provided Quantum_Fraud_Detection_Hybrid_VQC.pptx; project notebook quantum_vqc_fraud_detection.ipynb; supplied dataset fraud_detection_dataset.csv. Slide: References &amp;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6355080"/>
            <a:ext cx="2057400" cy="411480"/>
          </a:xfrm>
          <a:prstGeom prst="rect">
            <a:avLst/>
          </a:prstGeom>
        </p:spPr>
      </p:pic>
      <p:pic>
        <p:nvPicPr>
          <p:cNvPr id="3" name="Image 1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355080"/>
            <a:ext cx="22402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58384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577840" y="6528816"/>
            <a:ext cx="1097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Q-Hack India</a:t>
            </a:r>
            <a:endParaRPr lang="en-US" sz="470" dirty="0"/>
          </a:p>
        </p:txBody>
      </p:sp>
      <p:sp>
        <p:nvSpPr>
          <p:cNvPr id="6" name="Text 2"/>
          <p:cNvSpPr/>
          <p:nvPr/>
        </p:nvSpPr>
        <p:spPr>
          <a:xfrm>
            <a:off x="6464808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pic>
        <p:nvPicPr>
          <p:cNvPr id="7" name="Image 2" descr="/mnt/data/ref_assets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4592"/>
            <a:ext cx="1325880" cy="548640"/>
          </a:xfrm>
          <a:prstGeom prst="rect">
            <a:avLst/>
          </a:prstGeom>
        </p:spPr>
      </p:pic>
      <p:pic>
        <p:nvPicPr>
          <p:cNvPr id="8" name="Image 3" descr="/mnt/data/ref_assets/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37160"/>
            <a:ext cx="1143000" cy="621792"/>
          </a:xfrm>
          <a:prstGeom prst="rect">
            <a:avLst/>
          </a:prstGeom>
        </p:spPr>
      </p:pic>
      <p:pic>
        <p:nvPicPr>
          <p:cNvPr id="9" name="Image 4" descr="/mnt/data/ref_assets/imag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164592"/>
            <a:ext cx="502920" cy="502920"/>
          </a:xfrm>
          <a:prstGeom prst="rect">
            <a:avLst/>
          </a:prstGeom>
        </p:spPr>
      </p:pic>
      <p:pic>
        <p:nvPicPr>
          <p:cNvPr id="10" name="Image 5" descr="/mnt/data/ref_assets/image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128016"/>
            <a:ext cx="1417320" cy="438912"/>
          </a:xfrm>
          <a:prstGeom prst="rect">
            <a:avLst/>
          </a:prstGeom>
        </p:spPr>
      </p:pic>
      <p:pic>
        <p:nvPicPr>
          <p:cNvPr id="11" name="Image 6" descr="/mnt/data/ref_assets/image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201168"/>
            <a:ext cx="1463040" cy="347472"/>
          </a:xfrm>
          <a:prstGeom prst="rect">
            <a:avLst/>
          </a:prstGeom>
        </p:spPr>
      </p:pic>
      <p:pic>
        <p:nvPicPr>
          <p:cNvPr id="12" name="Image 7" descr="/mnt/data/ref_assets/image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4760" y="1051560"/>
            <a:ext cx="2834640" cy="914400"/>
          </a:xfrm>
          <a:prstGeom prst="rect">
            <a:avLst/>
          </a:prstGeom>
        </p:spPr>
      </p:pic>
      <p:pic>
        <p:nvPicPr>
          <p:cNvPr id="13" name="Image 8" descr="/mnt/data/ref_assets/imag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6680" y="1298448"/>
            <a:ext cx="3474720" cy="3822192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411480" y="2834640"/>
            <a:ext cx="2286000" cy="237744"/>
          </a:xfrm>
          <a:prstGeom prst="roundRect">
            <a:avLst>
              <a:gd name="adj" fmla="val 46154"/>
            </a:avLst>
          </a:prstGeom>
          <a:solidFill>
            <a:srgbClr val="FF66AD"/>
          </a:solidFill>
          <a:ln w="12700">
            <a:solidFill>
              <a:srgbClr val="FF66AD"/>
            </a:solidFill>
            <a:prstDash val="solid"/>
          </a:ln>
        </p:spPr>
      </p:sp>
      <p:sp>
        <p:nvSpPr>
          <p:cNvPr id="15" name="Text 4"/>
          <p:cNvSpPr/>
          <p:nvPr/>
        </p:nvSpPr>
        <p:spPr>
          <a:xfrm>
            <a:off x="475488" y="288493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5303A"/>
                </a:solidFill>
              </a:rPr>
              <a:t>Team Name:</a:t>
            </a:r>
            <a:endParaRPr lang="en-US" sz="830" dirty="0"/>
          </a:p>
        </p:txBody>
      </p:sp>
      <p:sp>
        <p:nvSpPr>
          <p:cNvPr id="16" name="Text 5"/>
          <p:cNvSpPr/>
          <p:nvPr/>
        </p:nvSpPr>
        <p:spPr>
          <a:xfrm>
            <a:off x="530352" y="3136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303A"/>
                </a:solidFill>
              </a:rPr>
              <a:t>Qubit Sentinel</a:t>
            </a:r>
            <a:endParaRPr lang="en-US" sz="1300" dirty="0"/>
          </a:p>
        </p:txBody>
      </p:sp>
      <p:sp>
        <p:nvSpPr>
          <p:cNvPr id="17" name="Shape 6"/>
          <p:cNvSpPr/>
          <p:nvPr/>
        </p:nvSpPr>
        <p:spPr>
          <a:xfrm>
            <a:off x="411480" y="3493008"/>
            <a:ext cx="2606040" cy="237744"/>
          </a:xfrm>
          <a:prstGeom prst="roundRect">
            <a:avLst>
              <a:gd name="adj" fmla="val 46154"/>
            </a:avLst>
          </a:prstGeom>
          <a:solidFill>
            <a:srgbClr val="FF66AD"/>
          </a:solidFill>
          <a:ln w="12700">
            <a:solidFill>
              <a:srgbClr val="FF66AD"/>
            </a:solidFill>
            <a:prstDash val="solid"/>
          </a:ln>
        </p:spPr>
      </p:sp>
      <p:sp>
        <p:nvSpPr>
          <p:cNvPr id="18" name="Text 7"/>
          <p:cNvSpPr/>
          <p:nvPr/>
        </p:nvSpPr>
        <p:spPr>
          <a:xfrm>
            <a:off x="475488" y="354330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5303A"/>
                </a:solidFill>
              </a:rPr>
              <a:t>Team Lead Name:</a:t>
            </a:r>
            <a:endParaRPr lang="en-US" sz="830" dirty="0"/>
          </a:p>
        </p:txBody>
      </p:sp>
      <p:sp>
        <p:nvSpPr>
          <p:cNvPr id="19" name="Text 8"/>
          <p:cNvSpPr/>
          <p:nvPr/>
        </p:nvSpPr>
        <p:spPr>
          <a:xfrm>
            <a:off x="530352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303A"/>
                </a:solidFill>
              </a:rPr>
              <a:t>[Add name]</a:t>
            </a:r>
            <a:endParaRPr lang="en-US" sz="1200" dirty="0"/>
          </a:p>
        </p:txBody>
      </p:sp>
      <p:sp>
        <p:nvSpPr>
          <p:cNvPr id="20" name="Shape 9"/>
          <p:cNvSpPr/>
          <p:nvPr/>
        </p:nvSpPr>
        <p:spPr>
          <a:xfrm>
            <a:off x="411480" y="4160520"/>
            <a:ext cx="1325880" cy="237744"/>
          </a:xfrm>
          <a:prstGeom prst="roundRect">
            <a:avLst>
              <a:gd name="adj" fmla="val 46154"/>
            </a:avLst>
          </a:prstGeom>
          <a:solidFill>
            <a:srgbClr val="FF66AD"/>
          </a:solidFill>
          <a:ln w="12700">
            <a:solidFill>
              <a:srgbClr val="FF66AD"/>
            </a:solidFill>
            <a:prstDash val="solid"/>
          </a:ln>
        </p:spPr>
      </p:sp>
      <p:sp>
        <p:nvSpPr>
          <p:cNvPr id="21" name="Text 10"/>
          <p:cNvSpPr/>
          <p:nvPr/>
        </p:nvSpPr>
        <p:spPr>
          <a:xfrm>
            <a:off x="475488" y="421081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5303A"/>
                </a:solidFill>
              </a:rPr>
              <a:t>Track:</a:t>
            </a:r>
            <a:endParaRPr lang="en-US" sz="830" dirty="0"/>
          </a:p>
        </p:txBody>
      </p:sp>
      <p:sp>
        <p:nvSpPr>
          <p:cNvPr id="22" name="Text 11"/>
          <p:cNvSpPr/>
          <p:nvPr/>
        </p:nvSpPr>
        <p:spPr>
          <a:xfrm>
            <a:off x="530352" y="4453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5303A"/>
                </a:solidFill>
              </a:rPr>
              <a:t>Quantum Machine Learning / Financial Security</a:t>
            </a:r>
            <a:endParaRPr lang="en-US" sz="1150" dirty="0"/>
          </a:p>
        </p:txBody>
      </p:sp>
      <p:sp>
        <p:nvSpPr>
          <p:cNvPr id="23" name="Shape 12"/>
          <p:cNvSpPr/>
          <p:nvPr/>
        </p:nvSpPr>
        <p:spPr>
          <a:xfrm>
            <a:off x="411480" y="4828032"/>
            <a:ext cx="3337560" cy="237744"/>
          </a:xfrm>
          <a:prstGeom prst="roundRect">
            <a:avLst>
              <a:gd name="adj" fmla="val 46154"/>
            </a:avLst>
          </a:prstGeom>
          <a:solidFill>
            <a:srgbClr val="FF66AD"/>
          </a:solidFill>
          <a:ln w="12700">
            <a:solidFill>
              <a:srgbClr val="FF66AD"/>
            </a:solidFill>
            <a:prstDash val="solid"/>
          </a:ln>
        </p:spPr>
      </p:sp>
      <p:sp>
        <p:nvSpPr>
          <p:cNvPr id="24" name="Text 13"/>
          <p:cNvSpPr/>
          <p:nvPr/>
        </p:nvSpPr>
        <p:spPr>
          <a:xfrm>
            <a:off x="475488" y="4878324"/>
            <a:ext cx="3209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5303A"/>
                </a:solidFill>
              </a:rPr>
              <a:t>Problem Statement title:</a:t>
            </a:r>
            <a:endParaRPr lang="en-US" sz="830" dirty="0"/>
          </a:p>
        </p:txBody>
      </p:sp>
      <p:sp>
        <p:nvSpPr>
          <p:cNvPr id="25" name="Text 14"/>
          <p:cNvSpPr/>
          <p:nvPr/>
        </p:nvSpPr>
        <p:spPr>
          <a:xfrm>
            <a:off x="530352" y="5138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25303A"/>
                </a:solidFill>
              </a:rPr>
              <a:t>Rare Payment Fraud Ranking with Hybrid VQC</a:t>
            </a:r>
            <a:endParaRPr lang="en-US" sz="12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6355080"/>
            <a:ext cx="2057400" cy="411480"/>
          </a:xfrm>
          <a:prstGeom prst="rect">
            <a:avLst/>
          </a:prstGeom>
        </p:spPr>
      </p:pic>
      <p:pic>
        <p:nvPicPr>
          <p:cNvPr id="3" name="Image 1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355080"/>
            <a:ext cx="22402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58384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577840" y="6528816"/>
            <a:ext cx="1097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Q-Hack India</a:t>
            </a:r>
            <a:endParaRPr lang="en-US" sz="470" dirty="0"/>
          </a:p>
        </p:txBody>
      </p:sp>
      <p:sp>
        <p:nvSpPr>
          <p:cNvPr id="6" name="Text 2"/>
          <p:cNvSpPr/>
          <p:nvPr/>
        </p:nvSpPr>
        <p:spPr>
          <a:xfrm>
            <a:off x="6464808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pic>
        <p:nvPicPr>
          <p:cNvPr id="7" name="Image 2" descr="/mnt/data/ref_assets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64592"/>
            <a:ext cx="1417320" cy="475488"/>
          </a:xfrm>
          <a:prstGeom prst="rect">
            <a:avLst/>
          </a:prstGeom>
        </p:spPr>
      </p:pic>
      <p:pic>
        <p:nvPicPr>
          <p:cNvPr id="8" name="Image 3" descr="/mnt/data/ref_assets/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5720"/>
            <a:ext cx="384048" cy="384048"/>
          </a:xfrm>
          <a:prstGeom prst="rect">
            <a:avLst/>
          </a:prstGeom>
        </p:spPr>
      </p:pic>
      <p:pic>
        <p:nvPicPr>
          <p:cNvPr id="9" name="Image 4" descr="/mnt/data/ref_assets/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228600"/>
            <a:ext cx="1508760" cy="34747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297680" y="502920"/>
            <a:ext cx="2971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0160">
            <a:solidFill>
              <a:srgbClr val="C7CED7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4297680" y="960120"/>
            <a:ext cx="2148840" cy="73152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6446520" y="960120"/>
            <a:ext cx="822960" cy="73152"/>
          </a:xfrm>
          <a:prstGeom prst="rect">
            <a:avLst/>
          </a:prstGeom>
          <a:solidFill>
            <a:srgbClr val="FF66AD"/>
          </a:solidFill>
          <a:ln w="12700">
            <a:solidFill>
              <a:srgbClr val="FF66AD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4443984" y="658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880" dirty="0"/>
          </a:p>
        </p:txBody>
      </p:sp>
      <p:sp>
        <p:nvSpPr>
          <p:cNvPr id="14" name="Shape 7"/>
          <p:cNvSpPr/>
          <p:nvPr/>
        </p:nvSpPr>
        <p:spPr>
          <a:xfrm>
            <a:off x="685800" y="141732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685800" y="1490472"/>
            <a:ext cx="54864" cy="1865376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850392" y="154533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5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rare-event detection problem</a:t>
            </a:r>
            <a:endParaRPr lang="en-US" sz="780" dirty="0"/>
          </a:p>
        </p:txBody>
      </p:sp>
      <p:sp>
        <p:nvSpPr>
          <p:cNvPr id="17" name="Text 10"/>
          <p:cNvSpPr/>
          <p:nvPr/>
        </p:nvSpPr>
        <p:spPr>
          <a:xfrm>
            <a:off x="850392" y="1837944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fraud is only 2% of the supplied data: 40 fraud cases in 2,000 transactions.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can reach ~98% accuracy by predicting every case as legitimate while catching no fraud.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evaluate fraud ranking, not accuracy alone.</a:t>
            </a:r>
            <a:endParaRPr lang="en-US" sz="840" dirty="0"/>
          </a:p>
        </p:txBody>
      </p:sp>
      <p:sp>
        <p:nvSpPr>
          <p:cNvPr id="18" name="Shape 11"/>
          <p:cNvSpPr/>
          <p:nvPr/>
        </p:nvSpPr>
        <p:spPr>
          <a:xfrm>
            <a:off x="3977640" y="141732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3977640" y="1490472"/>
            <a:ext cx="54864" cy="1865376"/>
          </a:xfrm>
          <a:prstGeom prst="rect">
            <a:avLst/>
          </a:prstGeom>
          <a:solidFill>
            <a:srgbClr val="EA9C21"/>
          </a:solidFill>
          <a:ln w="12700">
            <a:solidFill>
              <a:srgbClr val="EA9C21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142232" y="154533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A9C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objective</a:t>
            </a:r>
            <a:endParaRPr lang="en-US" sz="780" dirty="0"/>
          </a:p>
        </p:txBody>
      </p:sp>
      <p:sp>
        <p:nvSpPr>
          <p:cNvPr id="21" name="Text 14"/>
          <p:cNvSpPr/>
          <p:nvPr/>
        </p:nvSpPr>
        <p:spPr>
          <a:xfrm>
            <a:off x="4142232" y="1837944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the transactions most likely to be fraudulent so investigators can review a manageable, high-risk queue.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flag fewer, better alerts with high recall and acceptable precision.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7269480" y="141732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269480" y="1490472"/>
            <a:ext cx="54864" cy="1865376"/>
          </a:xfrm>
          <a:prstGeom prst="rect">
            <a:avLst/>
          </a:prstGeom>
          <a:solidFill>
            <a:srgbClr val="00A889"/>
          </a:solidFill>
          <a:ln w="12700">
            <a:solidFill>
              <a:srgbClr val="00A889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7434072" y="154533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A8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benchmark setup</a:t>
            </a:r>
            <a:endParaRPr lang="en-US" sz="780" dirty="0"/>
          </a:p>
        </p:txBody>
      </p:sp>
      <p:sp>
        <p:nvSpPr>
          <p:cNvPr id="25" name="Text 18"/>
          <p:cNvSpPr/>
          <p:nvPr/>
        </p:nvSpPr>
        <p:spPr>
          <a:xfrm>
            <a:off x="7434072" y="1837944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selected inputs for quantum and classical models: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device trust score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merchant risk score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evaluation keeps the natural 2% fraud rate.</a:t>
            </a:r>
            <a:endParaRPr lang="en-US" sz="840" dirty="0"/>
          </a:p>
        </p:txBody>
      </p:sp>
      <p:sp>
        <p:nvSpPr>
          <p:cNvPr id="26" name="Shape 19"/>
          <p:cNvSpPr/>
          <p:nvPr/>
        </p:nvSpPr>
        <p:spPr>
          <a:xfrm>
            <a:off x="2377440" y="3977640"/>
            <a:ext cx="7086600" cy="512064"/>
          </a:xfrm>
          <a:prstGeom prst="roundRect">
            <a:avLst>
              <a:gd name="adj" fmla="val 25000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D2D7D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2560320" y="4123944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303A"/>
                </a:solidFill>
              </a:rPr>
              <a:t>Dataset: 2,000 transactions • 40 fraud cases • 2 selected features</a:t>
            </a:r>
            <a:endParaRPr lang="en-US" sz="1150" dirty="0"/>
          </a:p>
        </p:txBody>
      </p:sp>
      <p:pic>
        <p:nvPicPr>
          <p:cNvPr id="28" name="Image 5" descr="/mnt/data/ref_assets/imag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0" y="4663440"/>
            <a:ext cx="749808" cy="7863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2920" y="60807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dirty="0">
                <a:solidFill>
                  <a:srgbClr val="9AA1A9"/>
                </a:solidFill>
              </a:rPr>
              <a:t>Round 1 prototype: rare-event ranking, not production scoring.</a:t>
            </a:r>
            <a:endParaRPr lang="en-US" sz="4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6355080"/>
            <a:ext cx="2057400" cy="411480"/>
          </a:xfrm>
          <a:prstGeom prst="rect">
            <a:avLst/>
          </a:prstGeom>
        </p:spPr>
      </p:pic>
      <p:pic>
        <p:nvPicPr>
          <p:cNvPr id="3" name="Image 1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355080"/>
            <a:ext cx="22402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58384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577840" y="6528816"/>
            <a:ext cx="1097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Q-Hack India</a:t>
            </a:r>
            <a:endParaRPr lang="en-US" sz="470" dirty="0"/>
          </a:p>
        </p:txBody>
      </p:sp>
      <p:sp>
        <p:nvSpPr>
          <p:cNvPr id="6" name="Text 2"/>
          <p:cNvSpPr/>
          <p:nvPr/>
        </p:nvSpPr>
        <p:spPr>
          <a:xfrm>
            <a:off x="6464808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pic>
        <p:nvPicPr>
          <p:cNvPr id="7" name="Image 2" descr="/mnt/data/ref_assets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64592"/>
            <a:ext cx="1417320" cy="475488"/>
          </a:xfrm>
          <a:prstGeom prst="rect">
            <a:avLst/>
          </a:prstGeom>
        </p:spPr>
      </p:pic>
      <p:pic>
        <p:nvPicPr>
          <p:cNvPr id="8" name="Image 3" descr="/mnt/data/ref_assets/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5720"/>
            <a:ext cx="384048" cy="384048"/>
          </a:xfrm>
          <a:prstGeom prst="rect">
            <a:avLst/>
          </a:prstGeom>
        </p:spPr>
      </p:pic>
      <p:pic>
        <p:nvPicPr>
          <p:cNvPr id="9" name="Image 4" descr="/mnt/data/ref_assets/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228600"/>
            <a:ext cx="1508760" cy="34747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297680" y="502920"/>
            <a:ext cx="2971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0160">
            <a:solidFill>
              <a:srgbClr val="C7CED7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4297680" y="960120"/>
            <a:ext cx="2148840" cy="73152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6446520" y="960120"/>
            <a:ext cx="822960" cy="73152"/>
          </a:xfrm>
          <a:prstGeom prst="rect">
            <a:avLst/>
          </a:prstGeom>
          <a:solidFill>
            <a:srgbClr val="FF66AD"/>
          </a:solidFill>
          <a:ln w="12700">
            <a:solidFill>
              <a:srgbClr val="FF66AD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4443984" y="658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880" dirty="0"/>
          </a:p>
        </p:txBody>
      </p:sp>
      <p:sp>
        <p:nvSpPr>
          <p:cNvPr id="14" name="Shape 7"/>
          <p:cNvSpPr/>
          <p:nvPr/>
        </p:nvSpPr>
        <p:spPr>
          <a:xfrm>
            <a:off x="685800" y="1444752"/>
            <a:ext cx="2971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685800" y="1517904"/>
            <a:ext cx="54864" cy="2002536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850392" y="157276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5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Missed fraud is costly</a:t>
            </a:r>
            <a:endParaRPr lang="en-US" sz="780" dirty="0"/>
          </a:p>
        </p:txBody>
      </p:sp>
      <p:sp>
        <p:nvSpPr>
          <p:cNvPr id="17" name="Text 10"/>
          <p:cNvSpPr/>
          <p:nvPr/>
        </p:nvSpPr>
        <p:spPr>
          <a:xfrm>
            <a:off x="850392" y="1865376"/>
            <a:ext cx="267919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fraud classified as legitimate can create direct loss, chargebacks, customer friction and loss of trust.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requirement: high fraud recall, catching as many genuine fraud cases as possible.</a:t>
            </a:r>
            <a:endParaRPr lang="en-US" sz="820" dirty="0"/>
          </a:p>
        </p:txBody>
      </p:sp>
      <p:sp>
        <p:nvSpPr>
          <p:cNvPr id="18" name="Shape 11"/>
          <p:cNvSpPr/>
          <p:nvPr/>
        </p:nvSpPr>
        <p:spPr>
          <a:xfrm>
            <a:off x="4069080" y="1444752"/>
            <a:ext cx="2971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069080" y="1517904"/>
            <a:ext cx="54864" cy="2002536"/>
          </a:xfrm>
          <a:prstGeom prst="rect">
            <a:avLst/>
          </a:prstGeom>
          <a:solidFill>
            <a:srgbClr val="2B7DE9"/>
          </a:solidFill>
          <a:ln w="12700">
            <a:solidFill>
              <a:srgbClr val="2B7DE9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233672" y="157276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B7D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Alerts consume human capacity</a:t>
            </a:r>
            <a:endParaRPr lang="en-US" sz="780" dirty="0"/>
          </a:p>
        </p:txBody>
      </p:sp>
      <p:sp>
        <p:nvSpPr>
          <p:cNvPr id="21" name="Text 14"/>
          <p:cNvSpPr/>
          <p:nvPr/>
        </p:nvSpPr>
        <p:spPr>
          <a:xfrm>
            <a:off x="4233672" y="1865376"/>
            <a:ext cx="267919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fraud alert needs review by risk analysts. Too many weak alerts slow teams and frustrate legitimate customers.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requirement: precision, making each alert worth investigating.</a:t>
            </a:r>
            <a:endParaRPr lang="en-US" sz="820" dirty="0"/>
          </a:p>
        </p:txBody>
      </p:sp>
      <p:sp>
        <p:nvSpPr>
          <p:cNvPr id="22" name="Shape 15"/>
          <p:cNvSpPr/>
          <p:nvPr/>
        </p:nvSpPr>
        <p:spPr>
          <a:xfrm>
            <a:off x="7452360" y="1444752"/>
            <a:ext cx="2971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452360" y="1517904"/>
            <a:ext cx="54864" cy="2002536"/>
          </a:xfrm>
          <a:prstGeom prst="rect">
            <a:avLst/>
          </a:prstGeom>
          <a:solidFill>
            <a:srgbClr val="EA9C21"/>
          </a:solidFill>
          <a:ln w="12700">
            <a:solidFill>
              <a:srgbClr val="EA9C21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7616952" y="157276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A9C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Accuracy hides the real problem</a:t>
            </a:r>
            <a:endParaRPr lang="en-US" sz="780" dirty="0"/>
          </a:p>
        </p:txBody>
      </p:sp>
      <p:sp>
        <p:nvSpPr>
          <p:cNvPr id="25" name="Text 18"/>
          <p:cNvSpPr/>
          <p:nvPr/>
        </p:nvSpPr>
        <p:spPr>
          <a:xfrm>
            <a:off x="7616952" y="1865376"/>
            <a:ext cx="267919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40 of 2,000 transactions are fraud. Predicting “legitimate” for all cases gives ~98% accuracy, but catches zero fraud.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PR-AUC, recall and false-positive alerts.</a:t>
            </a:r>
            <a:endParaRPr lang="en-US" sz="820" dirty="0"/>
          </a:p>
        </p:txBody>
      </p:sp>
      <p:sp>
        <p:nvSpPr>
          <p:cNvPr id="26" name="Shape 19"/>
          <p:cNvSpPr/>
          <p:nvPr/>
        </p:nvSpPr>
        <p:spPr>
          <a:xfrm>
            <a:off x="1920240" y="4160520"/>
            <a:ext cx="822960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2240280" y="437083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5303A"/>
                </a:solidFill>
              </a:rPr>
              <a:t>Business objective: rank the most suspicious transactions into a manageable review queue.</a:t>
            </a:r>
            <a:endParaRPr lang="en-US" sz="1320" dirty="0"/>
          </a:p>
        </p:txBody>
      </p:sp>
      <p:pic>
        <p:nvPicPr>
          <p:cNvPr id="28" name="Image 5" descr="/mnt/data/ref_assets/image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0" y="5394960"/>
            <a:ext cx="502920" cy="4297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2920" y="60807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dirty="0">
                <a:solidFill>
                  <a:srgbClr val="9AA1A9"/>
                </a:solidFill>
              </a:rPr>
              <a:t>Fraud detection success = high recall + actionable alert volume.</a:t>
            </a:r>
            <a:endParaRPr lang="en-US" sz="4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97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6355080"/>
            <a:ext cx="2057400" cy="411480"/>
          </a:xfrm>
          <a:prstGeom prst="rect">
            <a:avLst/>
          </a:prstGeom>
        </p:spPr>
      </p:pic>
      <p:pic>
        <p:nvPicPr>
          <p:cNvPr id="3" name="Image 1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355080"/>
            <a:ext cx="22402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58384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577840" y="6528816"/>
            <a:ext cx="1097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0" dirty="0">
                <a:solidFill>
                  <a:srgbClr val="F3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Q-Hack India</a:t>
            </a:r>
            <a:endParaRPr lang="en-US" sz="470" dirty="0"/>
          </a:p>
        </p:txBody>
      </p:sp>
      <p:sp>
        <p:nvSpPr>
          <p:cNvPr id="6" name="Text 2"/>
          <p:cNvSpPr/>
          <p:nvPr/>
        </p:nvSpPr>
        <p:spPr>
          <a:xfrm>
            <a:off x="6464808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pic>
        <p:nvPicPr>
          <p:cNvPr id="7" name="Image 2" descr="/mnt/data/ref_assets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64592"/>
            <a:ext cx="1417320" cy="475488"/>
          </a:xfrm>
          <a:prstGeom prst="rect">
            <a:avLst/>
          </a:prstGeom>
        </p:spPr>
      </p:pic>
      <p:pic>
        <p:nvPicPr>
          <p:cNvPr id="8" name="Image 3" descr="/mnt/data/ref_assets/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5720"/>
            <a:ext cx="384048" cy="384048"/>
          </a:xfrm>
          <a:prstGeom prst="rect">
            <a:avLst/>
          </a:prstGeom>
        </p:spPr>
      </p:pic>
      <p:pic>
        <p:nvPicPr>
          <p:cNvPr id="9" name="Image 4" descr="/mnt/data/ref_assets/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228600"/>
            <a:ext cx="1508760" cy="34747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297680" y="502920"/>
            <a:ext cx="2971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0160">
            <a:solidFill>
              <a:srgbClr val="C7CED7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4297680" y="960120"/>
            <a:ext cx="2148840" cy="73152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6446520" y="960120"/>
            <a:ext cx="822960" cy="73152"/>
          </a:xfrm>
          <a:prstGeom prst="rect">
            <a:avLst/>
          </a:prstGeom>
          <a:solidFill>
            <a:srgbClr val="FF66AD"/>
          </a:solidFill>
          <a:ln w="12700">
            <a:solidFill>
              <a:srgbClr val="FF66AD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4443984" y="658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</a:t>
            </a:r>
            <a:endParaRPr lang="en-US" sz="880" dirty="0"/>
          </a:p>
        </p:txBody>
      </p:sp>
      <p:sp>
        <p:nvSpPr>
          <p:cNvPr id="14" name="Shape 7"/>
          <p:cNvSpPr/>
          <p:nvPr/>
        </p:nvSpPr>
        <p:spPr>
          <a:xfrm>
            <a:off x="685800" y="148132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685800" y="1554480"/>
            <a:ext cx="54864" cy="1773936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850392" y="160934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5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Prepare data</a:t>
            </a:r>
            <a:endParaRPr lang="en-US" sz="780" dirty="0"/>
          </a:p>
        </p:txBody>
      </p:sp>
      <p:sp>
        <p:nvSpPr>
          <p:cNvPr id="17" name="Text 10"/>
          <p:cNvSpPr/>
          <p:nvPr/>
        </p:nvSpPr>
        <p:spPr>
          <a:xfrm>
            <a:off x="850392" y="1901952"/>
            <a:ext cx="245059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both selected features to [−π, π].</a:t>
            </a:r>
            <a:endParaRPr lang="en-US" sz="810" dirty="0"/>
          </a:p>
          <a:p>
            <a:pPr marL="0" indent="0">
              <a:buNone/>
            </a:pP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Oversample fraud only in the VQC fitting subset: 240 samples, 47.5% fraud.</a:t>
            </a:r>
            <a:endParaRPr lang="en-US" sz="810" dirty="0"/>
          </a:p>
          <a:p>
            <a:pPr marL="0" indent="0">
              <a:buNone/>
            </a:pP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test set untouched.</a:t>
            </a:r>
            <a:endParaRPr lang="en-US" sz="810" dirty="0"/>
          </a:p>
        </p:txBody>
      </p:sp>
      <p:sp>
        <p:nvSpPr>
          <p:cNvPr id="18" name="Shape 11"/>
          <p:cNvSpPr/>
          <p:nvPr/>
        </p:nvSpPr>
        <p:spPr>
          <a:xfrm>
            <a:off x="3794760" y="148132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3794760" y="1554480"/>
            <a:ext cx="54864" cy="1773936"/>
          </a:xfrm>
          <a:prstGeom prst="rect">
            <a:avLst/>
          </a:prstGeom>
          <a:solidFill>
            <a:srgbClr val="2B7DE9"/>
          </a:solidFill>
          <a:ln w="12700">
            <a:solidFill>
              <a:srgbClr val="2B7DE9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959352" y="160934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B7D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Train hybrid VQC</a:t>
            </a:r>
            <a:endParaRPr lang="en-US" sz="780" dirty="0"/>
          </a:p>
        </p:txBody>
      </p:sp>
      <p:sp>
        <p:nvSpPr>
          <p:cNvPr id="21" name="Text 14"/>
          <p:cNvSpPr/>
          <p:nvPr/>
        </p:nvSpPr>
        <p:spPr>
          <a:xfrm>
            <a:off x="3959352" y="1901952"/>
            <a:ext cx="245059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 one feature per qubit.</a:t>
            </a:r>
            <a:endParaRPr lang="en-US" sz="810" dirty="0"/>
          </a:p>
          <a:p>
            <a:pPr marL="0" indent="0">
              <a:buNone/>
            </a:pP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trainable entangling layers, then optimise parameters with COBYLA.</a:t>
            </a:r>
            <a:endParaRPr lang="en-US" sz="810" dirty="0"/>
          </a:p>
          <a:p>
            <a:pPr marL="0" indent="0">
              <a:buNone/>
            </a:pP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Pauli-Z expectation as model output.</a:t>
            </a:r>
            <a:endParaRPr lang="en-US" sz="810" dirty="0"/>
          </a:p>
        </p:txBody>
      </p:sp>
      <p:sp>
        <p:nvSpPr>
          <p:cNvPr id="22" name="Shape 15"/>
          <p:cNvSpPr/>
          <p:nvPr/>
        </p:nvSpPr>
        <p:spPr>
          <a:xfrm>
            <a:off x="6903720" y="148132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903720" y="1554480"/>
            <a:ext cx="54864" cy="1773936"/>
          </a:xfrm>
          <a:prstGeom prst="rect">
            <a:avLst/>
          </a:prstGeom>
          <a:solidFill>
            <a:srgbClr val="EA9C21"/>
          </a:solidFill>
          <a:ln w="12700">
            <a:solidFill>
              <a:srgbClr val="EA9C21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7068312" y="160934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A9C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Rank alerts</a:t>
            </a:r>
            <a:endParaRPr lang="en-US" sz="780" dirty="0"/>
          </a:p>
        </p:txBody>
      </p:sp>
      <p:sp>
        <p:nvSpPr>
          <p:cNvPr id="25" name="Text 18"/>
          <p:cNvSpPr/>
          <p:nvPr/>
        </p:nvSpPr>
        <p:spPr>
          <a:xfrm>
            <a:off x="7068312" y="1901952"/>
            <a:ext cx="245059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Pauli-Z expectation to fraud probability.</a:t>
            </a:r>
            <a:endParaRPr lang="en-US" sz="810" dirty="0"/>
          </a:p>
          <a:p>
            <a:pPr marL="0" indent="0">
              <a:buNone/>
            </a:pP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transactions into an investigator queue.</a:t>
            </a:r>
            <a:endParaRPr lang="en-US" sz="810" dirty="0"/>
          </a:p>
          <a:p>
            <a:pPr marL="0" indent="0">
              <a:buNone/>
            </a:pP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against feature-matched XGBoost.</a:t>
            </a:r>
            <a:endParaRPr lang="en-US" sz="810" dirty="0"/>
          </a:p>
        </p:txBody>
      </p:sp>
      <p:sp>
        <p:nvSpPr>
          <p:cNvPr id="26" name="Shape 19"/>
          <p:cNvSpPr/>
          <p:nvPr/>
        </p:nvSpPr>
        <p:spPr>
          <a:xfrm>
            <a:off x="3456432" y="2249424"/>
            <a:ext cx="256032" cy="320040"/>
          </a:xfrm>
          <a:prstGeom prst="chevron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565392" y="2249424"/>
            <a:ext cx="256032" cy="320040"/>
          </a:xfrm>
          <a:prstGeom prst="chevron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2194560" y="4160520"/>
            <a:ext cx="7772400" cy="566928"/>
          </a:xfrm>
          <a:prstGeom prst="roundRect">
            <a:avLst>
              <a:gd name="adj" fmla="val 2903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D9C6F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2468880" y="434340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303A"/>
                </a:solidFill>
              </a:rPr>
              <a:t>Fair comparison principle: same two features, split, and held-out evaluation</a:t>
            </a:r>
            <a:endParaRPr lang="en-US" sz="1250" dirty="0"/>
          </a:p>
        </p:txBody>
      </p:sp>
      <p:pic>
        <p:nvPicPr>
          <p:cNvPr id="30" name="Image 5" descr="/mnt/data/ref_assets/image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4120" y="4590288"/>
            <a:ext cx="822960" cy="53035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02920" y="60807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dirty="0">
                <a:solidFill>
                  <a:srgbClr val="EEE7FF"/>
                </a:solidFill>
              </a:rPr>
              <a:t>Local simulator PoC: validates workflow and evaluation contract.</a:t>
            </a:r>
            <a:endParaRPr lang="en-US" sz="4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6355080"/>
            <a:ext cx="2057400" cy="411480"/>
          </a:xfrm>
          <a:prstGeom prst="rect">
            <a:avLst/>
          </a:prstGeom>
        </p:spPr>
      </p:pic>
      <p:pic>
        <p:nvPicPr>
          <p:cNvPr id="3" name="Image 1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355080"/>
            <a:ext cx="22402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58384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577840" y="6528816"/>
            <a:ext cx="1097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Q-Hack India</a:t>
            </a:r>
            <a:endParaRPr lang="en-US" sz="470" dirty="0"/>
          </a:p>
        </p:txBody>
      </p:sp>
      <p:sp>
        <p:nvSpPr>
          <p:cNvPr id="6" name="Text 2"/>
          <p:cNvSpPr/>
          <p:nvPr/>
        </p:nvSpPr>
        <p:spPr>
          <a:xfrm>
            <a:off x="6464808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pic>
        <p:nvPicPr>
          <p:cNvPr id="7" name="Image 2" descr="/mnt/data/ref_assets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64592"/>
            <a:ext cx="1417320" cy="475488"/>
          </a:xfrm>
          <a:prstGeom prst="rect">
            <a:avLst/>
          </a:prstGeom>
        </p:spPr>
      </p:pic>
      <p:pic>
        <p:nvPicPr>
          <p:cNvPr id="8" name="Image 3" descr="/mnt/data/ref_assets/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5720"/>
            <a:ext cx="384048" cy="384048"/>
          </a:xfrm>
          <a:prstGeom prst="rect">
            <a:avLst/>
          </a:prstGeom>
        </p:spPr>
      </p:pic>
      <p:pic>
        <p:nvPicPr>
          <p:cNvPr id="9" name="Image 4" descr="/mnt/data/ref_assets/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228600"/>
            <a:ext cx="1508760" cy="34747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297680" y="502920"/>
            <a:ext cx="2971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0160">
            <a:solidFill>
              <a:srgbClr val="C7CED7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4297680" y="960120"/>
            <a:ext cx="2148840" cy="73152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6446520" y="960120"/>
            <a:ext cx="822960" cy="73152"/>
          </a:xfrm>
          <a:prstGeom prst="rect">
            <a:avLst/>
          </a:prstGeom>
          <a:solidFill>
            <a:srgbClr val="FF66AD"/>
          </a:solidFill>
          <a:ln w="12700">
            <a:solidFill>
              <a:srgbClr val="FF66AD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4443984" y="658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Quantum?</a:t>
            </a:r>
            <a:endParaRPr lang="en-US" sz="880" dirty="0"/>
          </a:p>
        </p:txBody>
      </p:sp>
      <p:sp>
        <p:nvSpPr>
          <p:cNvPr id="14" name="Shape 7"/>
          <p:cNvSpPr/>
          <p:nvPr/>
        </p:nvSpPr>
        <p:spPr>
          <a:xfrm>
            <a:off x="685800" y="1417320"/>
            <a:ext cx="31546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685800" y="1490472"/>
            <a:ext cx="54864" cy="2414016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850392" y="1545336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5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Quantum feature space</a:t>
            </a:r>
            <a:endParaRPr lang="en-US" sz="780" dirty="0"/>
          </a:p>
        </p:txBody>
      </p:sp>
      <p:sp>
        <p:nvSpPr>
          <p:cNvPr id="17" name="Text 10"/>
          <p:cNvSpPr/>
          <p:nvPr/>
        </p:nvSpPr>
        <p:spPr>
          <a:xfrm>
            <a:off x="850392" y="1837944"/>
            <a:ext cx="2862072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fraud signals are angle-encoded on two qubits.</a:t>
            </a:r>
            <a:endParaRPr lang="en-US" sz="810" dirty="0"/>
          </a:p>
          <a:p>
            <a:pPr marL="0" indent="0">
              <a:buNone/>
            </a:pP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quantum state is transformed by a variational circuit, allowing nonlinear interactions between device trust and merchant risk to be explored in a compact feature space.</a:t>
            </a:r>
            <a:endParaRPr lang="en-US" sz="810" dirty="0"/>
          </a:p>
        </p:txBody>
      </p:sp>
      <p:sp>
        <p:nvSpPr>
          <p:cNvPr id="18" name="Shape 11"/>
          <p:cNvSpPr/>
          <p:nvPr/>
        </p:nvSpPr>
        <p:spPr>
          <a:xfrm>
            <a:off x="4251960" y="1417320"/>
            <a:ext cx="31546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251960" y="1490472"/>
            <a:ext cx="54864" cy="2414016"/>
          </a:xfrm>
          <a:prstGeom prst="rect">
            <a:avLst/>
          </a:prstGeom>
          <a:solidFill>
            <a:srgbClr val="2B7DE9"/>
          </a:solidFill>
          <a:ln w="12700">
            <a:solidFill>
              <a:srgbClr val="2B7DE9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416552" y="1545336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B7D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 learning loop</a:t>
            </a:r>
            <a:endParaRPr lang="en-US" sz="780" dirty="0"/>
          </a:p>
        </p:txBody>
      </p:sp>
      <p:sp>
        <p:nvSpPr>
          <p:cNvPr id="21" name="Text 14"/>
          <p:cNvSpPr/>
          <p:nvPr/>
        </p:nvSpPr>
        <p:spPr>
          <a:xfrm>
            <a:off x="4416552" y="1837944"/>
            <a:ext cx="2862072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classical optimiser (COBYLA) updates trainable circuit weights.</a:t>
            </a:r>
            <a:endParaRPr lang="en-US" sz="810" dirty="0"/>
          </a:p>
          <a:p>
            <a:pPr marL="0" indent="0">
              <a:buNone/>
            </a:pP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circuit’s Pauli-Z expectation is converted into a fraud probability.</a:t>
            </a:r>
            <a:endParaRPr lang="en-US" sz="810" dirty="0"/>
          </a:p>
          <a:p>
            <a:pPr marL="0" indent="0">
              <a:buNone/>
            </a:pP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QML: quantum state processing + classical training and decision logic.</a:t>
            </a:r>
            <a:endParaRPr lang="en-US" sz="810" dirty="0"/>
          </a:p>
        </p:txBody>
      </p:sp>
      <p:sp>
        <p:nvSpPr>
          <p:cNvPr id="22" name="Shape 15"/>
          <p:cNvSpPr/>
          <p:nvPr/>
        </p:nvSpPr>
        <p:spPr>
          <a:xfrm>
            <a:off x="7818120" y="1417320"/>
            <a:ext cx="31546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818120" y="1490472"/>
            <a:ext cx="54864" cy="2414016"/>
          </a:xfrm>
          <a:prstGeom prst="rect">
            <a:avLst/>
          </a:prstGeom>
          <a:solidFill>
            <a:srgbClr val="EA9C21"/>
          </a:solidFill>
          <a:ln w="12700">
            <a:solidFill>
              <a:srgbClr val="EA9C21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7982712" y="1545336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A9C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is worth testing</a:t>
            </a:r>
            <a:endParaRPr lang="en-US" sz="780" dirty="0"/>
          </a:p>
        </p:txBody>
      </p:sp>
      <p:sp>
        <p:nvSpPr>
          <p:cNvPr id="25" name="Text 18"/>
          <p:cNvSpPr/>
          <p:nvPr/>
        </p:nvSpPr>
        <p:spPr>
          <a:xfrm>
            <a:off x="7982712" y="1837944"/>
            <a:ext cx="2862072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2-qubit simulator is a PoC, not a claim of quantum advantage.</a:t>
            </a:r>
            <a:endParaRPr lang="en-US" sz="810" dirty="0"/>
          </a:p>
          <a:p>
            <a:pPr marL="0" indent="0">
              <a:buNone/>
            </a:pP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creates an evidence-based path to test ansätze, error mitigation and hardware execution against XGBoost using identical data and metrics.</a:t>
            </a:r>
            <a:endParaRPr lang="en-US" sz="810" dirty="0"/>
          </a:p>
        </p:txBody>
      </p:sp>
      <p:sp>
        <p:nvSpPr>
          <p:cNvPr id="26" name="Shape 19"/>
          <p:cNvSpPr/>
          <p:nvPr/>
        </p:nvSpPr>
        <p:spPr>
          <a:xfrm>
            <a:off x="2011680" y="4572000"/>
            <a:ext cx="8092440" cy="502920"/>
          </a:xfrm>
          <a:prstGeom prst="roundRect">
            <a:avLst>
              <a:gd name="adj" fmla="val 32727"/>
            </a:avLst>
          </a:prstGeom>
          <a:solidFill>
            <a:srgbClr val="FFFFFF"/>
          </a:solidFill>
          <a:ln w="10160">
            <a:solidFill>
              <a:srgbClr val="D2D7D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2240280" y="4727448"/>
            <a:ext cx="7635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303A"/>
                </a:solidFill>
              </a:rPr>
              <a:t>Quantum hypothesis: a well-tuned VQC may learn useful feature interactions; superiority must be measured, not assumed.</a:t>
            </a:r>
            <a:endParaRPr lang="en-US" sz="1050" dirty="0"/>
          </a:p>
        </p:txBody>
      </p:sp>
      <p:pic>
        <p:nvPicPr>
          <p:cNvPr id="28" name="Image 5" descr="/mnt/data/ref_assets/imag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2992" y="4709160"/>
            <a:ext cx="786384" cy="81381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2920" y="60807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dirty="0">
                <a:solidFill>
                  <a:srgbClr val="9AA1A9"/>
                </a:solidFill>
              </a:rPr>
              <a:t>Quantum component: feature encoding + variational circuit + classical optimiser.</a:t>
            </a:r>
            <a:endParaRPr lang="en-US" sz="4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6355080"/>
            <a:ext cx="2057400" cy="411480"/>
          </a:xfrm>
          <a:prstGeom prst="rect">
            <a:avLst/>
          </a:prstGeom>
        </p:spPr>
      </p:pic>
      <p:pic>
        <p:nvPicPr>
          <p:cNvPr id="3" name="Image 1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355080"/>
            <a:ext cx="22402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58384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577840" y="6528816"/>
            <a:ext cx="1097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Q-Hack India</a:t>
            </a:r>
            <a:endParaRPr lang="en-US" sz="470" dirty="0"/>
          </a:p>
        </p:txBody>
      </p:sp>
      <p:sp>
        <p:nvSpPr>
          <p:cNvPr id="6" name="Text 2"/>
          <p:cNvSpPr/>
          <p:nvPr/>
        </p:nvSpPr>
        <p:spPr>
          <a:xfrm>
            <a:off x="6464808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pic>
        <p:nvPicPr>
          <p:cNvPr id="7" name="Image 2" descr="/mnt/data/ref_assets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64592"/>
            <a:ext cx="1417320" cy="475488"/>
          </a:xfrm>
          <a:prstGeom prst="rect">
            <a:avLst/>
          </a:prstGeom>
        </p:spPr>
      </p:pic>
      <p:pic>
        <p:nvPicPr>
          <p:cNvPr id="8" name="Image 3" descr="/mnt/data/ref_assets/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5720"/>
            <a:ext cx="384048" cy="384048"/>
          </a:xfrm>
          <a:prstGeom prst="rect">
            <a:avLst/>
          </a:prstGeom>
        </p:spPr>
      </p:pic>
      <p:pic>
        <p:nvPicPr>
          <p:cNvPr id="9" name="Image 4" descr="/mnt/data/ref_assets/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228600"/>
            <a:ext cx="1508760" cy="34747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297680" y="502920"/>
            <a:ext cx="2971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0160">
            <a:solidFill>
              <a:srgbClr val="C7CED7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4297680" y="960120"/>
            <a:ext cx="2148840" cy="73152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6446520" y="960120"/>
            <a:ext cx="822960" cy="73152"/>
          </a:xfrm>
          <a:prstGeom prst="rect">
            <a:avLst/>
          </a:prstGeom>
          <a:solidFill>
            <a:srgbClr val="FF66AD"/>
          </a:solidFill>
          <a:ln w="12700">
            <a:solidFill>
              <a:srgbClr val="FF66AD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4443984" y="658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&amp; Architecture</a:t>
            </a:r>
            <a:endParaRPr lang="en-US" sz="880" dirty="0"/>
          </a:p>
        </p:txBody>
      </p:sp>
      <p:sp>
        <p:nvSpPr>
          <p:cNvPr id="14" name="Shape 7"/>
          <p:cNvSpPr/>
          <p:nvPr/>
        </p:nvSpPr>
        <p:spPr>
          <a:xfrm>
            <a:off x="685800" y="1170432"/>
            <a:ext cx="1033272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3970">
            <a:solidFill>
              <a:srgbClr val="05A9B8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868680" y="13258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A9B8"/>
                </a:solidFill>
              </a:rPr>
              <a:t>PHASE 1 — CURRENT: LOCAL SIMULATOR PoC</a:t>
            </a:r>
            <a:endParaRPr lang="en-US" sz="900" dirty="0"/>
          </a:p>
        </p:txBody>
      </p:sp>
      <p:sp>
        <p:nvSpPr>
          <p:cNvPr id="16" name="Shape 9"/>
          <p:cNvSpPr/>
          <p:nvPr/>
        </p:nvSpPr>
        <p:spPr>
          <a:xfrm>
            <a:off x="960120" y="1737360"/>
            <a:ext cx="1234440" cy="804672"/>
          </a:xfrm>
          <a:prstGeom prst="roundRect">
            <a:avLst>
              <a:gd name="adj" fmla="val 11364"/>
            </a:avLst>
          </a:prstGeom>
          <a:solidFill>
            <a:srgbClr val="F6F8FB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1005840" y="190195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25303A"/>
                </a:solidFill>
              </a:rPr>
              <a:t>Data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5303A"/>
                </a:solidFill>
              </a:rPr>
              <a:t>CSV +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5303A"/>
                </a:solidFill>
              </a:rPr>
              <a:t>2 features</a:t>
            </a:r>
            <a:endParaRPr lang="en-US" sz="630" dirty="0"/>
          </a:p>
        </p:txBody>
      </p:sp>
      <p:sp>
        <p:nvSpPr>
          <p:cNvPr id="18" name="Shape 11"/>
          <p:cNvSpPr/>
          <p:nvPr/>
        </p:nvSpPr>
        <p:spPr>
          <a:xfrm>
            <a:off x="2240280" y="2029968"/>
            <a:ext cx="164592" cy="256032"/>
          </a:xfrm>
          <a:prstGeom prst="chevron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2560320" y="1737360"/>
            <a:ext cx="1234440" cy="804672"/>
          </a:xfrm>
          <a:prstGeom prst="roundRect">
            <a:avLst>
              <a:gd name="adj" fmla="val 11364"/>
            </a:avLst>
          </a:prstGeom>
          <a:solidFill>
            <a:srgbClr val="F6F8FB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2606040" y="190195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Prepare</a:t>
            </a:r>
            <a:endParaRPr lang="en-US" sz="630" dirty="0"/>
          </a:p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scale +</a:t>
            </a:r>
            <a:endParaRPr lang="en-US" sz="630" dirty="0"/>
          </a:p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balanced fit set</a:t>
            </a:r>
            <a:endParaRPr lang="en-US" sz="630" dirty="0"/>
          </a:p>
        </p:txBody>
      </p:sp>
      <p:sp>
        <p:nvSpPr>
          <p:cNvPr id="21" name="Shape 14"/>
          <p:cNvSpPr/>
          <p:nvPr/>
        </p:nvSpPr>
        <p:spPr>
          <a:xfrm>
            <a:off x="3840480" y="2029968"/>
            <a:ext cx="164592" cy="256032"/>
          </a:xfrm>
          <a:prstGeom prst="chevron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160520" y="1737360"/>
            <a:ext cx="1234440" cy="804672"/>
          </a:xfrm>
          <a:prstGeom prst="roundRect">
            <a:avLst>
              <a:gd name="adj" fmla="val 11364"/>
            </a:avLst>
          </a:prstGeom>
          <a:solidFill>
            <a:srgbClr val="F6F8FB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206240" y="190195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VQC sim</a:t>
            </a:r>
            <a:endParaRPr lang="en-US" sz="630" dirty="0"/>
          </a:p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PennyLane /</a:t>
            </a:r>
            <a:endParaRPr lang="en-US" sz="630" dirty="0"/>
          </a:p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Qiskit statevector</a:t>
            </a:r>
            <a:endParaRPr lang="en-US" sz="630" dirty="0"/>
          </a:p>
        </p:txBody>
      </p:sp>
      <p:sp>
        <p:nvSpPr>
          <p:cNvPr id="24" name="Shape 17"/>
          <p:cNvSpPr/>
          <p:nvPr/>
        </p:nvSpPr>
        <p:spPr>
          <a:xfrm>
            <a:off x="5440680" y="2029968"/>
            <a:ext cx="164592" cy="256032"/>
          </a:xfrm>
          <a:prstGeom prst="chevron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760720" y="1737360"/>
            <a:ext cx="1234440" cy="804672"/>
          </a:xfrm>
          <a:prstGeom prst="roundRect">
            <a:avLst>
              <a:gd name="adj" fmla="val 11364"/>
            </a:avLst>
          </a:prstGeom>
          <a:solidFill>
            <a:srgbClr val="F6F8FB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806440" y="190195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Hybrid loop</a:t>
            </a:r>
            <a:endParaRPr lang="en-US" sz="630" dirty="0"/>
          </a:p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COBYLA</a:t>
            </a:r>
            <a:endParaRPr lang="en-US" sz="630" dirty="0"/>
          </a:p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parameter update</a:t>
            </a:r>
            <a:endParaRPr lang="en-US" sz="630" dirty="0"/>
          </a:p>
        </p:txBody>
      </p:sp>
      <p:sp>
        <p:nvSpPr>
          <p:cNvPr id="27" name="Shape 20"/>
          <p:cNvSpPr/>
          <p:nvPr/>
        </p:nvSpPr>
        <p:spPr>
          <a:xfrm>
            <a:off x="7040880" y="2029968"/>
            <a:ext cx="164592" cy="256032"/>
          </a:xfrm>
          <a:prstGeom prst="chevron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360920" y="1737360"/>
            <a:ext cx="1234440" cy="804672"/>
          </a:xfrm>
          <a:prstGeom prst="roundRect">
            <a:avLst>
              <a:gd name="adj" fmla="val 11364"/>
            </a:avLst>
          </a:prstGeom>
          <a:solidFill>
            <a:srgbClr val="F6F8FB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406640" y="190195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Evaluate</a:t>
            </a:r>
            <a:endParaRPr lang="en-US" sz="630" dirty="0"/>
          </a:p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PR-AUC +</a:t>
            </a:r>
            <a:endParaRPr lang="en-US" sz="630" dirty="0"/>
          </a:p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alerts</a:t>
            </a:r>
            <a:endParaRPr lang="en-US" sz="630" dirty="0"/>
          </a:p>
        </p:txBody>
      </p:sp>
      <p:sp>
        <p:nvSpPr>
          <p:cNvPr id="30" name="Shape 23"/>
          <p:cNvSpPr/>
          <p:nvPr/>
        </p:nvSpPr>
        <p:spPr>
          <a:xfrm>
            <a:off x="8641080" y="2029968"/>
            <a:ext cx="164592" cy="256032"/>
          </a:xfrm>
          <a:prstGeom prst="chevron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961120" y="1737360"/>
            <a:ext cx="1234440" cy="804672"/>
          </a:xfrm>
          <a:prstGeom prst="roundRect">
            <a:avLst>
              <a:gd name="adj" fmla="val 11364"/>
            </a:avLst>
          </a:prstGeom>
          <a:solidFill>
            <a:srgbClr val="F6F8FB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006840" y="190195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Compare</a:t>
            </a:r>
            <a:endParaRPr lang="en-US" sz="630" dirty="0"/>
          </a:p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feature-matched</a:t>
            </a:r>
            <a:endParaRPr lang="en-US" sz="630" dirty="0"/>
          </a:p>
          <a:p>
            <a:pPr marL="0" indent="0" algn="ctr">
              <a:buNone/>
            </a:pPr>
            <a:r>
              <a:rPr lang="en-US" sz="630" dirty="0">
                <a:solidFill>
                  <a:srgbClr val="25303A"/>
                </a:solidFill>
              </a:rPr>
              <a:t>XGBoost</a:t>
            </a:r>
            <a:endParaRPr lang="en-US" sz="630" dirty="0"/>
          </a:p>
        </p:txBody>
      </p:sp>
      <p:sp>
        <p:nvSpPr>
          <p:cNvPr id="33" name="Shape 26"/>
          <p:cNvSpPr/>
          <p:nvPr/>
        </p:nvSpPr>
        <p:spPr>
          <a:xfrm>
            <a:off x="685800" y="3566160"/>
            <a:ext cx="1033272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3970">
            <a:solidFill>
              <a:srgbClr val="EA9C21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68680" y="37307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9C21"/>
                </a:solidFill>
              </a:rPr>
              <a:t>PHASE 2 — NEXT: IBM QUANTUM CLOUD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1097280" y="4133088"/>
            <a:ext cx="1417320" cy="841248"/>
          </a:xfrm>
          <a:prstGeom prst="roundRect">
            <a:avLst>
              <a:gd name="adj" fmla="val 10870"/>
            </a:avLst>
          </a:prstGeom>
          <a:solidFill>
            <a:srgbClr val="F8F8FA"/>
          </a:solidFill>
          <a:ln w="10160">
            <a:solidFill>
              <a:srgbClr val="D4B36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161288" y="4315968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Transpile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backend-aware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circuit</a:t>
            </a:r>
            <a:endParaRPr lang="en-US" sz="620" dirty="0"/>
          </a:p>
        </p:txBody>
      </p:sp>
      <p:sp>
        <p:nvSpPr>
          <p:cNvPr id="37" name="Shape 30"/>
          <p:cNvSpPr/>
          <p:nvPr/>
        </p:nvSpPr>
        <p:spPr>
          <a:xfrm>
            <a:off x="2542032" y="4425696"/>
            <a:ext cx="164592" cy="256032"/>
          </a:xfrm>
          <a:prstGeom prst="chevron">
            <a:avLst/>
          </a:prstGeom>
          <a:solidFill>
            <a:srgbClr val="EA9C21"/>
          </a:solidFill>
          <a:ln w="12700">
            <a:solidFill>
              <a:srgbClr val="EA9C21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2788920" y="4133088"/>
            <a:ext cx="1417320" cy="841248"/>
          </a:xfrm>
          <a:prstGeom prst="roundRect">
            <a:avLst>
              <a:gd name="adj" fmla="val 10870"/>
            </a:avLst>
          </a:prstGeom>
          <a:solidFill>
            <a:srgbClr val="F8F8FA"/>
          </a:solidFill>
          <a:ln w="10160">
            <a:solidFill>
              <a:srgbClr val="D4B36A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2852928" y="4315968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Execute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IBM Quantum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cloud</a:t>
            </a:r>
            <a:endParaRPr lang="en-US" sz="620" dirty="0"/>
          </a:p>
        </p:txBody>
      </p:sp>
      <p:sp>
        <p:nvSpPr>
          <p:cNvPr id="40" name="Shape 33"/>
          <p:cNvSpPr/>
          <p:nvPr/>
        </p:nvSpPr>
        <p:spPr>
          <a:xfrm>
            <a:off x="4233672" y="4425696"/>
            <a:ext cx="164592" cy="256032"/>
          </a:xfrm>
          <a:prstGeom prst="chevron">
            <a:avLst/>
          </a:prstGeom>
          <a:solidFill>
            <a:srgbClr val="EA9C21"/>
          </a:solidFill>
          <a:ln w="12700">
            <a:solidFill>
              <a:srgbClr val="EA9C21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480560" y="4133088"/>
            <a:ext cx="1417320" cy="841248"/>
          </a:xfrm>
          <a:prstGeom prst="roundRect">
            <a:avLst>
              <a:gd name="adj" fmla="val 10870"/>
            </a:avLst>
          </a:prstGeom>
          <a:solidFill>
            <a:srgbClr val="F8F8FA"/>
          </a:solidFill>
          <a:ln w="10160">
            <a:solidFill>
              <a:srgbClr val="D4B36A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544568" y="4315968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Mitigate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readout /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error mitigation</a:t>
            </a:r>
            <a:endParaRPr lang="en-US" sz="620" dirty="0"/>
          </a:p>
        </p:txBody>
      </p:sp>
      <p:sp>
        <p:nvSpPr>
          <p:cNvPr id="43" name="Shape 36"/>
          <p:cNvSpPr/>
          <p:nvPr/>
        </p:nvSpPr>
        <p:spPr>
          <a:xfrm>
            <a:off x="5925312" y="4425696"/>
            <a:ext cx="164592" cy="256032"/>
          </a:xfrm>
          <a:prstGeom prst="chevron">
            <a:avLst/>
          </a:prstGeom>
          <a:solidFill>
            <a:srgbClr val="EA9C21"/>
          </a:solidFill>
          <a:ln w="12700">
            <a:solidFill>
              <a:srgbClr val="EA9C21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172200" y="4133088"/>
            <a:ext cx="1417320" cy="841248"/>
          </a:xfrm>
          <a:prstGeom prst="roundRect">
            <a:avLst>
              <a:gd name="adj" fmla="val 10870"/>
            </a:avLst>
          </a:prstGeom>
          <a:solidFill>
            <a:srgbClr val="F8F8FA"/>
          </a:solidFill>
          <a:ln w="10160">
            <a:solidFill>
              <a:srgbClr val="D4B36A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236208" y="4315968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Compare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same metrics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vs XGBoost</a:t>
            </a:r>
            <a:endParaRPr lang="en-US" sz="620" dirty="0"/>
          </a:p>
        </p:txBody>
      </p:sp>
      <p:sp>
        <p:nvSpPr>
          <p:cNvPr id="46" name="Shape 39"/>
          <p:cNvSpPr/>
          <p:nvPr/>
        </p:nvSpPr>
        <p:spPr>
          <a:xfrm>
            <a:off x="7616952" y="4425696"/>
            <a:ext cx="164592" cy="256032"/>
          </a:xfrm>
          <a:prstGeom prst="chevron">
            <a:avLst/>
          </a:prstGeom>
          <a:solidFill>
            <a:srgbClr val="EA9C21"/>
          </a:solidFill>
          <a:ln w="12700">
            <a:solidFill>
              <a:srgbClr val="EA9C21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7863840" y="4133088"/>
            <a:ext cx="1417320" cy="841248"/>
          </a:xfrm>
          <a:prstGeom prst="roundRect">
            <a:avLst>
              <a:gd name="adj" fmla="val 10870"/>
            </a:avLst>
          </a:prstGeom>
          <a:solidFill>
            <a:srgbClr val="F8F8FA"/>
          </a:solidFill>
          <a:ln w="10160">
            <a:solidFill>
              <a:srgbClr val="D4B36A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927848" y="4315968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Validate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quality, cost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25303A"/>
                </a:solidFill>
              </a:rPr>
              <a:t>&amp; latency</a:t>
            </a:r>
            <a:endParaRPr lang="en-US" sz="620" dirty="0"/>
          </a:p>
        </p:txBody>
      </p:sp>
      <p:sp>
        <p:nvSpPr>
          <p:cNvPr id="49" name="Shape 42"/>
          <p:cNvSpPr/>
          <p:nvPr/>
        </p:nvSpPr>
        <p:spPr>
          <a:xfrm>
            <a:off x="868680" y="5650992"/>
            <a:ext cx="9966960" cy="347472"/>
          </a:xfrm>
          <a:prstGeom prst="roundRect">
            <a:avLst>
              <a:gd name="adj" fmla="val 23684"/>
            </a:avLst>
          </a:prstGeom>
          <a:solidFill>
            <a:srgbClr val="F6F6F7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960120" y="5751576"/>
            <a:ext cx="9784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25303A"/>
                </a:solidFill>
              </a:rPr>
              <a:t>Shared evaluation contract: same selected features, split, PR-AUC, recall, precision and false-positive counts.</a:t>
            </a:r>
            <a:endParaRPr lang="en-US" sz="720" dirty="0"/>
          </a:p>
        </p:txBody>
      </p:sp>
      <p:pic>
        <p:nvPicPr>
          <p:cNvPr id="51" name="Image 5" descr="/mnt/data/ref_assets/image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2528" y="5532120"/>
            <a:ext cx="411480" cy="265176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502920" y="60807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dirty="0">
                <a:solidFill>
                  <a:srgbClr val="9AA1A9"/>
                </a:solidFill>
              </a:rPr>
              <a:t>Technology: Python • pandas/scikit-learn • PennyLane • Qiskit • IBM Quantum cloud • XGBoost</a:t>
            </a:r>
            <a:endParaRPr lang="en-US" sz="4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6355080"/>
            <a:ext cx="2057400" cy="411480"/>
          </a:xfrm>
          <a:prstGeom prst="rect">
            <a:avLst/>
          </a:prstGeom>
        </p:spPr>
      </p:pic>
      <p:pic>
        <p:nvPicPr>
          <p:cNvPr id="3" name="Image 1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355080"/>
            <a:ext cx="22402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58384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577840" y="6528816"/>
            <a:ext cx="1097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Q-Hack India</a:t>
            </a:r>
            <a:endParaRPr lang="en-US" sz="470" dirty="0"/>
          </a:p>
        </p:txBody>
      </p:sp>
      <p:sp>
        <p:nvSpPr>
          <p:cNvPr id="6" name="Text 2"/>
          <p:cNvSpPr/>
          <p:nvPr/>
        </p:nvSpPr>
        <p:spPr>
          <a:xfrm>
            <a:off x="6464808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pic>
        <p:nvPicPr>
          <p:cNvPr id="7" name="Image 2" descr="/mnt/data/ref_assets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64592"/>
            <a:ext cx="1417320" cy="475488"/>
          </a:xfrm>
          <a:prstGeom prst="rect">
            <a:avLst/>
          </a:prstGeom>
        </p:spPr>
      </p:pic>
      <p:pic>
        <p:nvPicPr>
          <p:cNvPr id="8" name="Image 3" descr="/mnt/data/ref_assets/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5720"/>
            <a:ext cx="384048" cy="384048"/>
          </a:xfrm>
          <a:prstGeom prst="rect">
            <a:avLst/>
          </a:prstGeom>
        </p:spPr>
      </p:pic>
      <p:pic>
        <p:nvPicPr>
          <p:cNvPr id="9" name="Image 4" descr="/mnt/data/ref_assets/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228600"/>
            <a:ext cx="1508760" cy="34747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297680" y="502920"/>
            <a:ext cx="2971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0160">
            <a:solidFill>
              <a:srgbClr val="C7CED7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4297680" y="960120"/>
            <a:ext cx="2148840" cy="73152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6446520" y="960120"/>
            <a:ext cx="822960" cy="73152"/>
          </a:xfrm>
          <a:prstGeom prst="rect">
            <a:avLst/>
          </a:prstGeom>
          <a:solidFill>
            <a:srgbClr val="FF66AD"/>
          </a:solidFill>
          <a:ln w="12700">
            <a:solidFill>
              <a:srgbClr val="FF66AD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4443984" y="658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Minimal Prototype</a:t>
            </a:r>
            <a:endParaRPr lang="en-US" sz="880" dirty="0"/>
          </a:p>
        </p:txBody>
      </p:sp>
      <p:sp>
        <p:nvSpPr>
          <p:cNvPr id="14" name="Shape 7"/>
          <p:cNvSpPr/>
          <p:nvPr/>
        </p:nvSpPr>
        <p:spPr>
          <a:xfrm>
            <a:off x="960120" y="1353312"/>
            <a:ext cx="2971800" cy="3017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960120" y="1426464"/>
            <a:ext cx="54864" cy="2871216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1124712" y="148132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5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</a:t>
            </a:r>
            <a:endParaRPr lang="en-US" sz="780" dirty="0"/>
          </a:p>
        </p:txBody>
      </p:sp>
      <p:sp>
        <p:nvSpPr>
          <p:cNvPr id="17" name="Text 10"/>
          <p:cNvSpPr/>
          <p:nvPr/>
        </p:nvSpPr>
        <p:spPr>
          <a:xfrm>
            <a:off x="1124712" y="1773936"/>
            <a:ext cx="2679192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Reproducible notebook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2-qubit Qiskit VQC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Qiskit ML wrapper VQC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PennyLane VQC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XGBoost baseline</a:t>
            </a:r>
            <a:endParaRPr lang="en-US" sz="830" dirty="0"/>
          </a:p>
          <a:p>
            <a:pPr marL="0" indent="0">
              <a:buNone/>
            </a:pP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is fully executable in: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quantum_vqc_fraud_detection.ipynb</a:t>
            </a:r>
            <a:endParaRPr lang="en-US" sz="830" dirty="0"/>
          </a:p>
        </p:txBody>
      </p:sp>
      <p:sp>
        <p:nvSpPr>
          <p:cNvPr id="18" name="Shape 11"/>
          <p:cNvSpPr/>
          <p:nvPr/>
        </p:nvSpPr>
        <p:spPr>
          <a:xfrm>
            <a:off x="4572000" y="1353312"/>
            <a:ext cx="2971800" cy="3017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572000" y="1426464"/>
            <a:ext cx="54864" cy="2871216"/>
          </a:xfrm>
          <a:prstGeom prst="rect">
            <a:avLst/>
          </a:prstGeom>
          <a:solidFill>
            <a:srgbClr val="2B7DE9"/>
          </a:solidFill>
          <a:ln w="12700">
            <a:solidFill>
              <a:srgbClr val="2B7DE9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736592" y="148132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B7D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Circuit</a:t>
            </a:r>
            <a:endParaRPr lang="en-US" sz="780" dirty="0"/>
          </a:p>
        </p:txBody>
      </p:sp>
      <p:sp>
        <p:nvSpPr>
          <p:cNvPr id="21" name="Text 14"/>
          <p:cNvSpPr/>
          <p:nvPr/>
        </p:nvSpPr>
        <p:spPr>
          <a:xfrm>
            <a:off x="4736592" y="1773936"/>
            <a:ext cx="2679192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 / embedding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Trainable variational layers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Pauli-Z expectation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probability</a:t>
            </a:r>
            <a:endParaRPr lang="en-US" sz="830" dirty="0"/>
          </a:p>
          <a:p>
            <a:pPr marL="0" indent="0">
              <a:buNone/>
            </a:pP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 uses two selected inputs mapped to two qubits.</a:t>
            </a:r>
            <a:endParaRPr lang="en-US" sz="830" dirty="0"/>
          </a:p>
        </p:txBody>
      </p:sp>
      <p:sp>
        <p:nvSpPr>
          <p:cNvPr id="22" name="Shape 15"/>
          <p:cNvSpPr/>
          <p:nvPr/>
        </p:nvSpPr>
        <p:spPr>
          <a:xfrm>
            <a:off x="8183880" y="1353312"/>
            <a:ext cx="2971800" cy="3017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183880" y="1426464"/>
            <a:ext cx="54864" cy="2871216"/>
          </a:xfrm>
          <a:prstGeom prst="rect">
            <a:avLst/>
          </a:prstGeom>
          <a:solidFill>
            <a:srgbClr val="EA9C21"/>
          </a:solidFill>
          <a:ln w="12700">
            <a:solidFill>
              <a:srgbClr val="EA9C21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8348472" y="148132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A9C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</a:t>
            </a:r>
            <a:endParaRPr lang="en-US" sz="780" dirty="0"/>
          </a:p>
        </p:txBody>
      </p:sp>
      <p:sp>
        <p:nvSpPr>
          <p:cNvPr id="25" name="Text 18"/>
          <p:cNvSpPr/>
          <p:nvPr/>
        </p:nvSpPr>
        <p:spPr>
          <a:xfrm>
            <a:off x="8348472" y="1773936"/>
            <a:ext cx="2679192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Untouched test set: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600 transactions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12 fraud cases (2%)</a:t>
            </a:r>
            <a:endParaRPr lang="en-US" sz="830" dirty="0"/>
          </a:p>
          <a:p>
            <a:pPr marL="0" indent="0">
              <a:buNone/>
            </a:pP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Metrics: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PR-AUC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Confusion matrix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Precision &amp; recall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False-positive alerts</a:t>
            </a:r>
            <a:endParaRPr lang="en-US" sz="830" dirty="0"/>
          </a:p>
        </p:txBody>
      </p:sp>
      <p:pic>
        <p:nvPicPr>
          <p:cNvPr id="26" name="Image 5" descr="/mnt/data/ref_assets/image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0" y="4846320"/>
            <a:ext cx="86868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02920" y="60807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dirty="0">
                <a:solidFill>
                  <a:srgbClr val="9AA1A9"/>
                </a:solidFill>
              </a:rPr>
              <a:t>Minimum viable prototype: executable workflow + fair benchmark + transparent metrics.</a:t>
            </a:r>
            <a:endParaRPr lang="en-US" sz="4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97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6355080"/>
            <a:ext cx="2057400" cy="411480"/>
          </a:xfrm>
          <a:prstGeom prst="rect">
            <a:avLst/>
          </a:prstGeom>
        </p:spPr>
      </p:pic>
      <p:pic>
        <p:nvPicPr>
          <p:cNvPr id="3" name="Image 1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355080"/>
            <a:ext cx="22402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58384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577840" y="6528816"/>
            <a:ext cx="1097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0" dirty="0">
                <a:solidFill>
                  <a:srgbClr val="F3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Q-Hack India</a:t>
            </a:r>
            <a:endParaRPr lang="en-US" sz="470" dirty="0"/>
          </a:p>
        </p:txBody>
      </p:sp>
      <p:sp>
        <p:nvSpPr>
          <p:cNvPr id="6" name="Text 2"/>
          <p:cNvSpPr/>
          <p:nvPr/>
        </p:nvSpPr>
        <p:spPr>
          <a:xfrm>
            <a:off x="6464808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pic>
        <p:nvPicPr>
          <p:cNvPr id="7" name="Image 2" descr="/mnt/data/ref_assets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64592"/>
            <a:ext cx="1417320" cy="475488"/>
          </a:xfrm>
          <a:prstGeom prst="rect">
            <a:avLst/>
          </a:prstGeom>
        </p:spPr>
      </p:pic>
      <p:pic>
        <p:nvPicPr>
          <p:cNvPr id="8" name="Image 3" descr="/mnt/data/ref_assets/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5720"/>
            <a:ext cx="384048" cy="384048"/>
          </a:xfrm>
          <a:prstGeom prst="rect">
            <a:avLst/>
          </a:prstGeom>
        </p:spPr>
      </p:pic>
      <p:pic>
        <p:nvPicPr>
          <p:cNvPr id="9" name="Image 4" descr="/mnt/data/ref_assets/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228600"/>
            <a:ext cx="1508760" cy="34747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297680" y="502920"/>
            <a:ext cx="2971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0160">
            <a:solidFill>
              <a:srgbClr val="C7CED7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4297680" y="960120"/>
            <a:ext cx="2148840" cy="73152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6446520" y="960120"/>
            <a:ext cx="822960" cy="73152"/>
          </a:xfrm>
          <a:prstGeom prst="rect">
            <a:avLst/>
          </a:prstGeom>
          <a:solidFill>
            <a:srgbClr val="FF66AD"/>
          </a:solidFill>
          <a:ln w="12700">
            <a:solidFill>
              <a:srgbClr val="FF66AD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4443984" y="658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&amp; Validation</a:t>
            </a:r>
            <a:endParaRPr lang="en-US" sz="880" dirty="0"/>
          </a:p>
        </p:txBody>
      </p:sp>
      <p:sp>
        <p:nvSpPr>
          <p:cNvPr id="14" name="Shape 7"/>
          <p:cNvSpPr/>
          <p:nvPr/>
        </p:nvSpPr>
        <p:spPr>
          <a:xfrm>
            <a:off x="914400" y="1298448"/>
            <a:ext cx="333756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4605">
            <a:solidFill>
              <a:srgbClr val="05A9B8"/>
            </a:solidFill>
            <a:prstDash val="solid"/>
          </a:ln>
          <a:effectLst>
            <a:outerShdw blurRad="12700" dist="635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8"/>
          <p:cNvSpPr/>
          <p:nvPr/>
        </p:nvSpPr>
        <p:spPr>
          <a:xfrm>
            <a:off x="1097280" y="14630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5A9B8"/>
                </a:solidFill>
              </a:rPr>
              <a:t>PoC: PennyLane VQC</a:t>
            </a:r>
            <a:endParaRPr lang="en-US" sz="860" dirty="0"/>
          </a:p>
        </p:txBody>
      </p:sp>
      <p:sp>
        <p:nvSpPr>
          <p:cNvPr id="16" name="Text 9"/>
          <p:cNvSpPr/>
          <p:nvPr/>
        </p:nvSpPr>
        <p:spPr>
          <a:xfrm>
            <a:off x="1143000" y="1865376"/>
            <a:ext cx="28803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25303A"/>
                </a:solidFill>
              </a:rPr>
              <a:t>PR-AUC   0.3979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5303A"/>
                </a:solidFill>
              </a:rPr>
              <a:t>Recall   100%  (12 / 12 fraud caught)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5303A"/>
                </a:solidFill>
              </a:rPr>
              <a:t>Precision   5.9%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5303A"/>
                </a:solidFill>
              </a:rPr>
              <a:t>False positives   193</a:t>
            </a:r>
            <a:endParaRPr lang="en-US" sz="860" dirty="0"/>
          </a:p>
          <a:p>
            <a:pPr marL="0" indent="0">
              <a:buNone/>
            </a:pP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5303A"/>
                </a:solidFill>
              </a:rPr>
              <a:t>Strongest VQC configuration in current simulator PoC.</a:t>
            </a:r>
            <a:endParaRPr lang="en-US" sz="860" dirty="0"/>
          </a:p>
        </p:txBody>
      </p:sp>
      <p:sp>
        <p:nvSpPr>
          <p:cNvPr id="17" name="Shape 10"/>
          <p:cNvSpPr/>
          <p:nvPr/>
        </p:nvSpPr>
        <p:spPr>
          <a:xfrm>
            <a:off x="4526280" y="1298448"/>
            <a:ext cx="333756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4605">
            <a:solidFill>
              <a:srgbClr val="EA9C21"/>
            </a:solidFill>
            <a:prstDash val="solid"/>
          </a:ln>
          <a:effectLst>
            <a:outerShdw blurRad="12700" dist="635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4709160" y="14630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EA9C21"/>
                </a:solidFill>
              </a:rPr>
              <a:t>Benchmark: XGBoost</a:t>
            </a:r>
            <a:endParaRPr lang="en-US" sz="860" dirty="0"/>
          </a:p>
        </p:txBody>
      </p:sp>
      <p:sp>
        <p:nvSpPr>
          <p:cNvPr id="19" name="Text 12"/>
          <p:cNvSpPr/>
          <p:nvPr/>
        </p:nvSpPr>
        <p:spPr>
          <a:xfrm>
            <a:off x="4754880" y="1865376"/>
            <a:ext cx="28803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25303A"/>
                </a:solidFill>
              </a:rPr>
              <a:t>PR-AUC   0.4103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5303A"/>
                </a:solidFill>
              </a:rPr>
              <a:t>Recall   91.7%  (11 / 12 fraud caught)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5303A"/>
                </a:solidFill>
              </a:rPr>
              <a:t>Precision   28.9%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5303A"/>
                </a:solidFill>
              </a:rPr>
              <a:t>False positives   27</a:t>
            </a:r>
            <a:endParaRPr lang="en-US" sz="860" dirty="0"/>
          </a:p>
          <a:p>
            <a:pPr marL="0" indent="0">
              <a:buNone/>
            </a:pP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5303A"/>
                </a:solidFill>
              </a:rPr>
              <a:t>Best measured ranking and alert quality in this run.</a:t>
            </a:r>
            <a:endParaRPr lang="en-US" sz="860" dirty="0"/>
          </a:p>
        </p:txBody>
      </p:sp>
      <p:sp>
        <p:nvSpPr>
          <p:cNvPr id="20" name="Shape 13"/>
          <p:cNvSpPr/>
          <p:nvPr/>
        </p:nvSpPr>
        <p:spPr>
          <a:xfrm>
            <a:off x="8138160" y="1298448"/>
            <a:ext cx="278892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4605">
            <a:solidFill>
              <a:srgbClr val="00A889"/>
            </a:solidFill>
            <a:prstDash val="solid"/>
          </a:ln>
          <a:effectLst>
            <a:outerShdw blurRad="12700" dist="635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8321040" y="1463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0A889"/>
                </a:solidFill>
              </a:rPr>
              <a:t>What Phase 2 will validate</a:t>
            </a:r>
            <a:endParaRPr lang="en-US" sz="860" dirty="0"/>
          </a:p>
        </p:txBody>
      </p:sp>
      <p:sp>
        <p:nvSpPr>
          <p:cNvPr id="22" name="Text 15"/>
          <p:cNvSpPr/>
          <p:nvPr/>
        </p:nvSpPr>
        <p:spPr>
          <a:xfrm>
            <a:off x="8366760" y="1865376"/>
            <a:ext cx="233172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25303A"/>
                </a:solidFill>
              </a:rPr>
              <a:t>VQC is near XGBoost in PR-AUC: 0.3979 vs 0.4103.</a:t>
            </a:r>
            <a:endParaRPr lang="en-US" sz="860" dirty="0"/>
          </a:p>
          <a:p>
            <a:pPr marL="0" indent="0">
              <a:buNone/>
            </a:pP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5303A"/>
                </a:solidFill>
              </a:rPr>
              <a:t>IBM Quantum cloud runs with error mitigation are the next experiment, not a guaranteed improvement.</a:t>
            </a:r>
            <a:endParaRPr lang="en-US" sz="860" dirty="0"/>
          </a:p>
          <a:p>
            <a:pPr marL="0" indent="0">
              <a:buNone/>
            </a:pP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5303A"/>
                </a:solidFill>
              </a:rPr>
              <a:t>Compare both models on the same evaluation contract.</a:t>
            </a:r>
            <a:endParaRPr lang="en-US" sz="860" dirty="0"/>
          </a:p>
        </p:txBody>
      </p:sp>
      <p:sp>
        <p:nvSpPr>
          <p:cNvPr id="23" name="Shape 16"/>
          <p:cNvSpPr/>
          <p:nvPr/>
        </p:nvSpPr>
        <p:spPr>
          <a:xfrm>
            <a:off x="1143000" y="4315968"/>
            <a:ext cx="9372600" cy="603504"/>
          </a:xfrm>
          <a:prstGeom prst="roundRect">
            <a:avLst>
              <a:gd name="adj" fmla="val 27273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D9C6FF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417320" y="4535424"/>
            <a:ext cx="8823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5303A"/>
                </a:solidFill>
              </a:rPr>
              <a:t>Single stratified split, seed 31. Real-hardware results require repeated trials, mitigation analysis and fair baseline comparison.</a:t>
            </a:r>
            <a:endParaRPr lang="en-US" sz="920" dirty="0"/>
          </a:p>
        </p:txBody>
      </p:sp>
      <p:pic>
        <p:nvPicPr>
          <p:cNvPr id="25" name="Image 5" descr="/mnt/data/ref_assets/image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200" y="5532120"/>
            <a:ext cx="548640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2920" y="60807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dirty="0">
                <a:solidFill>
                  <a:srgbClr val="EEE7FF"/>
                </a:solidFill>
              </a:rPr>
              <a:t>Reported metrics are from the supplied project notebook and synthetic dataset.</a:t>
            </a:r>
            <a:endParaRPr lang="en-US" sz="4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6355080"/>
            <a:ext cx="2057400" cy="411480"/>
          </a:xfrm>
          <a:prstGeom prst="rect">
            <a:avLst/>
          </a:prstGeom>
        </p:spPr>
      </p:pic>
      <p:pic>
        <p:nvPicPr>
          <p:cNvPr id="3" name="Image 1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355080"/>
            <a:ext cx="22402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58384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577840" y="6528816"/>
            <a:ext cx="1097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Q-Hack India</a:t>
            </a:r>
            <a:endParaRPr lang="en-US" sz="470" dirty="0"/>
          </a:p>
        </p:txBody>
      </p:sp>
      <p:sp>
        <p:nvSpPr>
          <p:cNvPr id="6" name="Text 2"/>
          <p:cNvSpPr/>
          <p:nvPr/>
        </p:nvSpPr>
        <p:spPr>
          <a:xfrm>
            <a:off x="6464808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pic>
        <p:nvPicPr>
          <p:cNvPr id="7" name="Image 2" descr="/mnt/data/ref_assets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64592"/>
            <a:ext cx="1417320" cy="475488"/>
          </a:xfrm>
          <a:prstGeom prst="rect">
            <a:avLst/>
          </a:prstGeom>
        </p:spPr>
      </p:pic>
      <p:pic>
        <p:nvPicPr>
          <p:cNvPr id="8" name="Image 3" descr="/mnt/data/ref_assets/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5720"/>
            <a:ext cx="384048" cy="384048"/>
          </a:xfrm>
          <a:prstGeom prst="rect">
            <a:avLst/>
          </a:prstGeom>
        </p:spPr>
      </p:pic>
      <p:pic>
        <p:nvPicPr>
          <p:cNvPr id="9" name="Image 4" descr="/mnt/data/ref_assets/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228600"/>
            <a:ext cx="1508760" cy="34747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297680" y="502920"/>
            <a:ext cx="2971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0160">
            <a:solidFill>
              <a:srgbClr val="C7CED7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4297680" y="960120"/>
            <a:ext cx="2148840" cy="73152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6446520" y="960120"/>
            <a:ext cx="822960" cy="73152"/>
          </a:xfrm>
          <a:prstGeom prst="rect">
            <a:avLst/>
          </a:prstGeom>
          <a:solidFill>
            <a:srgbClr val="FF66AD"/>
          </a:solidFill>
          <a:ln w="12700">
            <a:solidFill>
              <a:srgbClr val="FF66AD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4443984" y="658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880" dirty="0"/>
          </a:p>
        </p:txBody>
      </p:sp>
      <p:sp>
        <p:nvSpPr>
          <p:cNvPr id="14" name="Shape 7"/>
          <p:cNvSpPr/>
          <p:nvPr/>
        </p:nvSpPr>
        <p:spPr>
          <a:xfrm>
            <a:off x="960120" y="1353312"/>
            <a:ext cx="2971800" cy="3063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960120" y="1426464"/>
            <a:ext cx="54864" cy="2916936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1124712" y="148132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5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fairly</a:t>
            </a:r>
            <a:endParaRPr lang="en-US" sz="780" dirty="0"/>
          </a:p>
        </p:txBody>
      </p:sp>
      <p:sp>
        <p:nvSpPr>
          <p:cNvPr id="17" name="Text 10"/>
          <p:cNvSpPr/>
          <p:nvPr/>
        </p:nvSpPr>
        <p:spPr>
          <a:xfrm>
            <a:off x="1124712" y="1773936"/>
            <a:ext cx="2679192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Repeated stratified splits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 mean ± SD PR-AUC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Tune threshold on validation data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final test set untouched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robustness, not one lucky split.</a:t>
            </a:r>
            <a:endParaRPr lang="en-US" sz="820" dirty="0"/>
          </a:p>
        </p:txBody>
      </p:sp>
      <p:sp>
        <p:nvSpPr>
          <p:cNvPr id="18" name="Shape 11"/>
          <p:cNvSpPr/>
          <p:nvPr/>
        </p:nvSpPr>
        <p:spPr>
          <a:xfrm>
            <a:off x="4572000" y="1353312"/>
            <a:ext cx="2971800" cy="3063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572000" y="1426464"/>
            <a:ext cx="54864" cy="2916936"/>
          </a:xfrm>
          <a:prstGeom prst="rect">
            <a:avLst/>
          </a:prstGeom>
          <a:solidFill>
            <a:srgbClr val="2B7DE9"/>
          </a:solidFill>
          <a:ln w="12700">
            <a:solidFill>
              <a:srgbClr val="2B7DE9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736592" y="148132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B7D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 VQC</a:t>
            </a:r>
            <a:endParaRPr lang="en-US" sz="780" dirty="0"/>
          </a:p>
        </p:txBody>
      </p:sp>
      <p:sp>
        <p:nvSpPr>
          <p:cNvPr id="21" name="Text 14"/>
          <p:cNvSpPr/>
          <p:nvPr/>
        </p:nvSpPr>
        <p:spPr>
          <a:xfrm>
            <a:off x="4736592" y="1773936"/>
            <a:ext cx="2679192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re-uploading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More expressive ansätze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Multiple initialisations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Optimiser / depth tuning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Threshold calibration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improve fraud ranking while controlling false positives.</a:t>
            </a:r>
            <a:endParaRPr lang="en-US" sz="820" dirty="0"/>
          </a:p>
        </p:txBody>
      </p:sp>
      <p:sp>
        <p:nvSpPr>
          <p:cNvPr id="22" name="Shape 15"/>
          <p:cNvSpPr/>
          <p:nvPr/>
        </p:nvSpPr>
        <p:spPr>
          <a:xfrm>
            <a:off x="8183880" y="1353312"/>
            <a:ext cx="2971800" cy="3063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183880" y="1426464"/>
            <a:ext cx="54864" cy="2916936"/>
          </a:xfrm>
          <a:prstGeom prst="rect">
            <a:avLst/>
          </a:prstGeom>
          <a:solidFill>
            <a:srgbClr val="EA9C21"/>
          </a:solidFill>
          <a:ln w="12700">
            <a:solidFill>
              <a:srgbClr val="EA9C21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8348472" y="148132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A9C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responsibly</a:t>
            </a:r>
            <a:endParaRPr lang="en-US" sz="780" dirty="0"/>
          </a:p>
        </p:txBody>
      </p:sp>
      <p:sp>
        <p:nvSpPr>
          <p:cNvPr id="25" name="Text 18"/>
          <p:cNvSpPr/>
          <p:nvPr/>
        </p:nvSpPr>
        <p:spPr>
          <a:xfrm>
            <a:off x="8348472" y="1773936"/>
            <a:ext cx="2679192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features / qubits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Noise-aware simulation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Hardware experiments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cost, quality &amp; latency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understand whether hardware execution helps under realistic constraints.</a:t>
            </a:r>
            <a:endParaRPr lang="en-US" sz="820" dirty="0"/>
          </a:p>
        </p:txBody>
      </p:sp>
      <p:sp>
        <p:nvSpPr>
          <p:cNvPr id="26" name="Shape 19"/>
          <p:cNvSpPr/>
          <p:nvPr/>
        </p:nvSpPr>
        <p:spPr>
          <a:xfrm>
            <a:off x="1828800" y="4892040"/>
            <a:ext cx="850392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2084832" y="5065776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5303A"/>
                </a:solidFill>
              </a:rPr>
              <a:t>Goal for Round 2: establish whether a tuned VQC can match or improve classical fraud ranking robustly.</a:t>
            </a:r>
            <a:endParaRPr lang="en-US" sz="1020" dirty="0"/>
          </a:p>
        </p:txBody>
      </p:sp>
      <p:pic>
        <p:nvPicPr>
          <p:cNvPr id="28" name="Image 5" descr="/mnt/data/ref_assets/image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0" y="5349240"/>
            <a:ext cx="502920" cy="4297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2920" y="60807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dirty="0">
                <a:solidFill>
                  <a:srgbClr val="9AA1A9"/>
                </a:solidFill>
              </a:rPr>
              <a:t>Roadmap focuses on fair validation, circuit improvement and responsible scaling.</a:t>
            </a:r>
            <a:endParaRPr lang="en-US" sz="4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97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6355080"/>
            <a:ext cx="2057400" cy="411480"/>
          </a:xfrm>
          <a:prstGeom prst="rect">
            <a:avLst/>
          </a:prstGeom>
        </p:spPr>
      </p:pic>
      <p:pic>
        <p:nvPicPr>
          <p:cNvPr id="3" name="Image 1" descr="/mnt/data/ref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355080"/>
            <a:ext cx="22402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58384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577840" y="6528816"/>
            <a:ext cx="1097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0" dirty="0">
                <a:solidFill>
                  <a:srgbClr val="F3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Q-Hack India</a:t>
            </a:r>
            <a:endParaRPr lang="en-US" sz="470" dirty="0"/>
          </a:p>
        </p:txBody>
      </p:sp>
      <p:sp>
        <p:nvSpPr>
          <p:cNvPr id="6" name="Text 2"/>
          <p:cNvSpPr/>
          <p:nvPr/>
        </p:nvSpPr>
        <p:spPr>
          <a:xfrm>
            <a:off x="6464808" y="65379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pic>
        <p:nvPicPr>
          <p:cNvPr id="7" name="Image 2" descr="/mnt/data/ref_assets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64592"/>
            <a:ext cx="1417320" cy="475488"/>
          </a:xfrm>
          <a:prstGeom prst="rect">
            <a:avLst/>
          </a:prstGeom>
        </p:spPr>
      </p:pic>
      <p:pic>
        <p:nvPicPr>
          <p:cNvPr id="8" name="Image 3" descr="/mnt/data/ref_assets/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5720"/>
            <a:ext cx="384048" cy="384048"/>
          </a:xfrm>
          <a:prstGeom prst="rect">
            <a:avLst/>
          </a:prstGeom>
        </p:spPr>
      </p:pic>
      <p:pic>
        <p:nvPicPr>
          <p:cNvPr id="9" name="Image 4" descr="/mnt/data/ref_assets/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228600"/>
            <a:ext cx="1508760" cy="34747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297680" y="502920"/>
            <a:ext cx="2971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0160">
            <a:solidFill>
              <a:srgbClr val="C7CED7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4297680" y="960120"/>
            <a:ext cx="2148840" cy="73152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6446520" y="960120"/>
            <a:ext cx="822960" cy="73152"/>
          </a:xfrm>
          <a:prstGeom prst="rect">
            <a:avLst/>
          </a:prstGeom>
          <a:solidFill>
            <a:srgbClr val="FF66AD"/>
          </a:solidFill>
          <a:ln w="12700">
            <a:solidFill>
              <a:srgbClr val="FF66AD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4443984" y="658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&amp; Sources</a:t>
            </a:r>
            <a:endParaRPr lang="en-US" sz="880" dirty="0"/>
          </a:p>
        </p:txBody>
      </p:sp>
      <p:sp>
        <p:nvSpPr>
          <p:cNvPr id="14" name="Shape 7"/>
          <p:cNvSpPr/>
          <p:nvPr/>
        </p:nvSpPr>
        <p:spPr>
          <a:xfrm>
            <a:off x="914400" y="1463040"/>
            <a:ext cx="45720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914400" y="1536192"/>
            <a:ext cx="54864" cy="2368296"/>
          </a:xfrm>
          <a:prstGeom prst="rect">
            <a:avLst/>
          </a:prstGeom>
          <a:solidFill>
            <a:srgbClr val="05A9B8"/>
          </a:solidFill>
          <a:ln w="12700">
            <a:solidFill>
              <a:srgbClr val="05A9B8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1078992" y="159105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5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sources</a:t>
            </a:r>
            <a:endParaRPr lang="en-US" sz="780" dirty="0"/>
          </a:p>
        </p:txBody>
      </p:sp>
      <p:sp>
        <p:nvSpPr>
          <p:cNvPr id="17" name="Text 10"/>
          <p:cNvSpPr/>
          <p:nvPr/>
        </p:nvSpPr>
        <p:spPr>
          <a:xfrm>
            <a:off x="1078992" y="1883664"/>
            <a:ext cx="4279392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 notebook: quantum_vqc_fraud_detection.ipynb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Supplied dataset: fraud_detection_dataset.csv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Qiskit documentation: qiskit.org / qiskit-community.github.io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PennyLane documentation: docs.pennylane.ai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Environment: requirements.txt</a:t>
            </a:r>
            <a:endParaRPr lang="en-US" sz="840" dirty="0"/>
          </a:p>
        </p:txBody>
      </p:sp>
      <p:sp>
        <p:nvSpPr>
          <p:cNvPr id="18" name="Shape 11"/>
          <p:cNvSpPr/>
          <p:nvPr/>
        </p:nvSpPr>
        <p:spPr>
          <a:xfrm>
            <a:off x="6217920" y="1463040"/>
            <a:ext cx="45720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795">
            <a:solidFill>
              <a:srgbClr val="AAB4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6217920" y="1536192"/>
            <a:ext cx="54864" cy="2368296"/>
          </a:xfrm>
          <a:prstGeom prst="rect">
            <a:avLst/>
          </a:prstGeom>
          <a:solidFill>
            <a:srgbClr val="EA9C21"/>
          </a:solidFill>
          <a:ln w="12700">
            <a:solidFill>
              <a:srgbClr val="EA9C21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382512" y="159105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A9C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Classical benchmark &amp; methods</a:t>
            </a:r>
            <a:endParaRPr lang="en-US" sz="780" dirty="0"/>
          </a:p>
        </p:txBody>
      </p:sp>
      <p:sp>
        <p:nvSpPr>
          <p:cNvPr id="21" name="Text 14"/>
          <p:cNvSpPr/>
          <p:nvPr/>
        </p:nvSpPr>
        <p:spPr>
          <a:xfrm>
            <a:off x="6382512" y="1883664"/>
            <a:ext cx="4279392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XGBoost documentation: xgboost.readthedocs.io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scikit-learn: PR-AUC, confusion matrix, train/test split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Evaluation contract: average precision / PR-AUC, fraud recall, precision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5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reported values come from the supplied project notebook.</a:t>
            </a:r>
            <a:endParaRPr lang="en-US" sz="840" dirty="0"/>
          </a:p>
        </p:txBody>
      </p:sp>
      <p:sp>
        <p:nvSpPr>
          <p:cNvPr id="22" name="Shape 15"/>
          <p:cNvSpPr/>
          <p:nvPr/>
        </p:nvSpPr>
        <p:spPr>
          <a:xfrm>
            <a:off x="2011680" y="4572000"/>
            <a:ext cx="8138160" cy="530352"/>
          </a:xfrm>
          <a:prstGeom prst="roundRect">
            <a:avLst>
              <a:gd name="adj" fmla="val 27586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D9C6FF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2286000" y="4754880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303A"/>
                </a:solidFill>
              </a:rPr>
              <a:t>Acknowledgement: based on Team Qubit Sentinel’s prototype implementation and supplied synthetic fraud dataset.</a:t>
            </a:r>
            <a:endParaRPr lang="en-US" sz="950" dirty="0"/>
          </a:p>
        </p:txBody>
      </p:sp>
      <p:pic>
        <p:nvPicPr>
          <p:cNvPr id="24" name="Image 5" descr="/mnt/data/ref_assets/image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0" y="5349240"/>
            <a:ext cx="50292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02920" y="60807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dirty="0">
                <a:solidFill>
                  <a:srgbClr val="EEE7FF"/>
                </a:solidFill>
              </a:rPr>
              <a:t>Q-Hack India 2026 Round 1 submission deck.</a:t>
            </a:r>
            <a:endParaRPr lang="en-US" sz="4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Q-Hack India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Fraud Detection with Hybrid VQC</dc:title>
  <dc:subject>Quantum Fraud Detection with Hybrid VQC</dc:subject>
  <dc:creator>OpenAI</dc:creator>
  <cp:lastModifiedBy>OpenAI</cp:lastModifiedBy>
  <cp:revision>2</cp:revision>
  <dcterms:created xsi:type="dcterms:W3CDTF">2026-10-06T16:16:27Z</dcterms:created>
  <dcterms:modified xsi:type="dcterms:W3CDTF">2026-10-06T16:22:41Z</dcterms:modified>
</cp:coreProperties>
</file>